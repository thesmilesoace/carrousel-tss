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Deuxième patient. Antoine, 15 ans et demi. On monte d'un cran : ici, quelque chose commence à changer. (Énergie : intrigué)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motif, l'histoire d'Antoine, les 3 avis reçus. Raconter, pas décrire.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[Doc intra — latéral D / face / latéral G.] Classe II, rapports transverses.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[Vues occlusales — maxillaire / mandibulaire.] Forme d'arcade, déficit transverse.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[Panoramique.] Bilan général, dents de sagesse.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 II squelettique, profil convexe, croissance quasi finie.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Quasi certain de corriger le transversal sans chirurgie à son âge ; dit à la maman avec la réserve d'usage, mais j'y crois.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la salle se positionner avant de révéler. Rappel : CVS 3-4, presque 16 ans, Classe II, sommeil, 3 confrères → 2 chirurgies, la maman →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MARPE au sens large, appuis dentaires inclus (Moon, Pereira-Varella) ; vérins de distalisation et effet Classe II anticipés EN SÉCURITÉ, au cas où elle refuserait la 2e chirurgie.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On se remet 5 ans en arrière. Pour moi, c'était une dinguerie. » (1er sommet, marquer un temps)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mm gagnés par le relâchement articulaire + 2 mm possibles par les vérins + un shift d'arcade → « je suis bon » ; mais très tard dans la croissance, déposer pour multibague + Forsus serait trop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Mon plan tient, je m'en sors sans extraction ni chirurgie.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pivot est enclenché, la mandibule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ans, la copine, l'appareil pas pratique pour les bisous → il veut qu'on l'enlève → il réclame la chirurgie pour ça. Mais l'appareil est VISSÉ, il ne peut pas l'enlever seul ; et vu le retard de croissance, je l'avais réglé direct en HYPER-Classe I (le coup d'avance).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Sans extraction, sans chirurgie ; les 6 mois → 3 mois, la maman qui craque. Hyper-Classe I tenu, Classe II → quasi Classe III.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réagir la salle avant la vidéo.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dépose en vidéo — dédramatiser.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trou de vis cicatrise sans trace. Illustration sur une autre patiente.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caricaturer l'extraction : c'est une option légitime. Mais le coût osseux n'est pas le même.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sobrement.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Armature retirée sans toucher aux vis → empreinte → labo → repose ; c'est le TAD-first qui rend ça possible ; les vérins n'ont jamais servi.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 lentement, avec une pause entre les deux colonnes.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Coupure de voix avant ; fait le pont avec Mathys.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2145" y="6292693"/>
            <a:ext cx="637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2145" y="6292693"/>
            <a:ext cx="637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1699178"/>
            <a:ext cx="690862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Smile Space · Cas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2086518"/>
            <a:ext cx="6908627" cy="933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Antoine</a:t>
            </a:r>
            <a:endParaRPr lang="en-US" sz="75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185041"/>
            <a:ext cx="6908627" cy="34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14-18 ans · 15,5 ans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635879"/>
            <a:ext cx="6908627" cy="284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Motif —</a:t>
            </a:r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dents pas droites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4047329"/>
            <a:ext cx="69086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Classe II · déficit transverse · troubles du sommeil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4434670"/>
            <a:ext cx="6908627" cy="292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Les vis polyvalentes »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9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24298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24298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pic>
        <p:nvPicPr>
          <p:cNvPr id="12" name="Image 1" descr="/home/user/Carrousel-TSS/assets/carrousels/antoine/exo/face_sourire_cut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298" y="1104872"/>
            <a:ext cx="3744918" cy="4800480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40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3528" y="6292693"/>
            <a:ext cx="49588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2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2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739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_antoine/photos/02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95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5" name="Image 3" descr="/home/user/Carrousel-TSS/deck/out_antoine/photos/02_3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6451" y="1022324"/>
            <a:ext cx="2574861" cy="49592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6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7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4" descr="/home/user/Carrousel-TS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020796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3"/>
          <p:cNvSpPr/>
          <p:nvPr/>
        </p:nvSpPr>
        <p:spPr>
          <a:xfrm>
            <a:off x="1020796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38504" y="6292693"/>
            <a:ext cx="53090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3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3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91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4" name="Image 2" descr="/home/user/Carrousel-TSS/deck/out_antoine/photos/03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599" y="2190695"/>
            <a:ext cx="3479713" cy="26097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5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6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3" descr="/home/user/Carrousel-TSS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020379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3"/>
          <p:cNvSpPr/>
          <p:nvPr/>
        </p:nvSpPr>
        <p:spPr>
          <a:xfrm>
            <a:off x="1020379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34337" y="6292693"/>
            <a:ext cx="53507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4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509675"/>
            <a:ext cx="5295768" cy="39718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4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544" y="1509675"/>
            <a:ext cx="5295768" cy="397182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5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19357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8" name="Text 3"/>
          <p:cNvSpPr/>
          <p:nvPr/>
        </p:nvSpPr>
        <p:spPr>
          <a:xfrm>
            <a:off x="1019357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4118" y="6292693"/>
            <a:ext cx="54529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5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1196045"/>
            <a:ext cx="10870928" cy="4599085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5" name="Image 1" descr="/home/user/Carrousel-TS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196357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7" name="Text 3"/>
          <p:cNvSpPr/>
          <p:nvPr/>
        </p:nvSpPr>
        <p:spPr>
          <a:xfrm>
            <a:off x="10196357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6896" y="6292693"/>
            <a:ext cx="542515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rrousel-TSS/deck/out_antoine/photos/06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235" y="1269175"/>
            <a:ext cx="3720764" cy="471237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3" name="Image 1" descr="/home/user/Carrousel-TSS/deck/out_antoine/photos/06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925" y="1269175"/>
            <a:ext cx="3844307" cy="4712376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4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Documentation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660383" y="704832"/>
            <a:ext cx="7670608" cy="272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6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Maturation vertébrale — CVS 3-4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19705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4"/>
          <p:cNvSpPr/>
          <p:nvPr/>
        </p:nvSpPr>
        <p:spPr>
          <a:xfrm>
            <a:off x="1019705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7591" y="6292693"/>
            <a:ext cx="54182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782320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4267887"/>
            <a:ext cx="8889778" cy="109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chirurgies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seule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60383" y="5403120"/>
            <a:ext cx="38099" cy="578431"/>
          </a:xfrm>
          <a:prstGeom prst="rect">
            <a:avLst/>
          </a:prstGeom>
          <a:solidFill>
            <a:srgbClr val="C3A4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0383" y="5403120"/>
            <a:ext cx="6984825" cy="578431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Corriger le transversal sans chirurgie à son âge — je le dis à la maman avec la réserve d'usage, mais j'y crois.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7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21223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21223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2771" y="6292693"/>
            <a:ext cx="52664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4948709"/>
            <a:ext cx="3996431" cy="450839"/>
          </a:xfrm>
          <a:prstGeom prst="roundRect">
            <a:avLst>
              <a:gd name="adj" fmla="val 19718"/>
            </a:avLst>
          </a:prstGeom>
          <a:solidFill>
            <a:srgbClr val="C3A4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2726165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question · à main levée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964881"/>
            <a:ext cx="8889778" cy="76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 aurait posé l'indication de </a:t>
            </a:r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deux extractions de prémolaires</a:t>
            </a:r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? Et qui ne l'aurait pas fait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60383" y="5539244"/>
            <a:ext cx="38099" cy="442306"/>
          </a:xfrm>
          <a:prstGeom prst="rect">
            <a:avLst/>
          </a:prstGeom>
          <a:solidFill>
            <a:srgbClr val="C3A4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0383" y="5539244"/>
            <a:ext cx="6984825" cy="442306"/>
          </a:xfrm>
          <a:prstGeom prst="rect">
            <a:avLst/>
          </a:prstGeom>
          <a:noFill/>
          <a:ln/>
        </p:spPr>
        <p:txBody>
          <a:bodyPr wrap="square" lIns="0" tIns="21590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CVS 3-4 · presque 16 ans · Classe II · sommeil — 3 confrères : 2 chirurgies, la maman : 0.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4948709"/>
            <a:ext cx="3996431" cy="450839"/>
          </a:xfrm>
          <a:prstGeom prst="rect">
            <a:avLst/>
          </a:prstGeom>
          <a:noFill/>
          <a:ln/>
        </p:spPr>
        <p:txBody>
          <a:bodyPr wrap="square" lIns="101600" tIns="203200" rIns="2032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Gardez votre position — j'y reviens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9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9655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9655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7095" y="6292693"/>
            <a:ext cx="54231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67293" y="4036316"/>
            <a:ext cx="5679735" cy="577836"/>
          </a:xfrm>
          <a:prstGeom prst="roundRect">
            <a:avLst>
              <a:gd name="adj" fmla="val 19780"/>
            </a:avLst>
          </a:prstGeom>
          <a:solidFill>
            <a:srgbClr val="3A3733"/>
          </a:solidFill>
          <a:ln/>
        </p:spPr>
      </p:sp>
      <p:sp>
        <p:nvSpPr>
          <p:cNvPr id="3" name="Shape 1"/>
          <p:cNvSpPr/>
          <p:nvPr/>
        </p:nvSpPr>
        <p:spPr>
          <a:xfrm>
            <a:off x="660383" y="1323743"/>
            <a:ext cx="4352915" cy="4657807"/>
          </a:xfrm>
          <a:prstGeom prst="roundRect">
            <a:avLst>
              <a:gd name="adj" fmla="val 2918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dispositif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MARPE modifié · 2 vérins de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distalisation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267293" y="2843439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MARPE modifié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appuis dentaires inclus (Moon, Pereira-Varella)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267293" y="3186033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vérins de distalisation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recul + amorce de l'effet Classe II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267293" y="3528627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Anticipé en sécurité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au cas où la 2e chirurgie serait refusée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267293" y="4036316"/>
            <a:ext cx="5679735" cy="577836"/>
          </a:xfrm>
          <a:prstGeom prst="rect">
            <a:avLst/>
          </a:prstGeom>
          <a:noFill/>
          <a:ln/>
        </p:spPr>
        <p:txBody>
          <a:bodyPr wrap="square" lIns="165100" tIns="215900" rIns="21590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Idée —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seul ancrage osseux, plusieurs plans possibles.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994247" y="3547875"/>
            <a:ext cx="1735888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 — dispositif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2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019933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1019933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29873" y="6292693"/>
            <a:ext cx="53953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Après l'expansion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 le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MARPE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1924200" y="3624073"/>
            <a:ext cx="2818933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Occlusales — gain transverse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32886" y="3624073"/>
            <a:ext cx="2951783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Intra — articulé croisé corrigé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3633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3633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6870" y="6292693"/>
            <a:ext cx="60254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refus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maman dit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à la 2e chirurgie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trop tard dans la croissance : déposer pour un multibague + Forsus serait trop long.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2939679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 mm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par le relâchement articulaire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355693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 mm possibles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par les vérins de distalisation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3771706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un shift d'arcade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« je suis bon »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8316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8316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3700" y="6292693"/>
            <a:ext cx="555710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4352915" cy="4657807"/>
          </a:xfrm>
          <a:prstGeom prst="roundRect">
            <a:avLst>
              <a:gd name="adj" fmla="val 2918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problème à l'envers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Convertir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sans redémarrer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267293" y="3100806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Dépose de l'appareil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envoi au labo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267293" y="3443400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Herbst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sur les 6 bagues supérieures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267293" y="3785994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Armature dento-portée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appuis inférieurs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267293" y="4128587"/>
            <a:ext cx="6314818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Pose des pistons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le Herbst est en place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608891" y="3547875"/>
            <a:ext cx="250660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 — labo / conversion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1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14813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1014813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8677" y="6292693"/>
            <a:ext cx="59073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Herbst en place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L'effet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sagittal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démarre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2410757" y="3624073"/>
            <a:ext cx="184572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Intra — Herbst posé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39246" y="3624073"/>
            <a:ext cx="2739064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 — la mandibule avance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44070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44070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4609" y="6292693"/>
            <a:ext cx="594802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624073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Les petits caractères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 que je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n'avais pas prévu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2324439" y="3624073"/>
            <a:ext cx="2018456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T0 + Herbst en bouche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618222" y="3624073"/>
            <a:ext cx="258121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 / vidéo — témoignage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9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0133851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10133851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4390" y="6292693"/>
            <a:ext cx="605021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3413040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sp>
        <p:nvSpPr>
          <p:cNvPr id="4" name="Shape 2"/>
          <p:cNvSpPr/>
          <p:nvPr/>
        </p:nvSpPr>
        <p:spPr>
          <a:xfrm>
            <a:off x="6165696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sp>
        <p:nvSpPr>
          <p:cNvPr id="5" name="Shape 3"/>
          <p:cNvSpPr/>
          <p:nvPr/>
        </p:nvSpPr>
        <p:spPr>
          <a:xfrm>
            <a:off x="8918352" y="1412641"/>
            <a:ext cx="2612960" cy="2011411"/>
          </a:xfrm>
          <a:prstGeom prst="roundRect">
            <a:avLst>
              <a:gd name="adj" fmla="val 6314"/>
            </a:avLst>
          </a:prstGeom>
          <a:solidFill>
            <a:srgbClr val="EFE7DC"/>
          </a:solidFill>
          <a:ln/>
        </p:spPr>
      </p:sp>
      <p:pic>
        <p:nvPicPr>
          <p:cNvPr id="6" name="Image 0" descr="/home/user/Carrousel-TSS/deck/out_antoine/photos/15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539" y="3690746"/>
            <a:ext cx="1588156" cy="2011411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pic>
        <p:nvPicPr>
          <p:cNvPr id="7" name="Image 1" descr="/home/user/Carrousel-TSS/deck/out_antoine/photos/15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4895" y="3690746"/>
            <a:ext cx="1584366" cy="2011411"/>
          </a:xfrm>
          <a:prstGeom prst="rect">
            <a:avLst/>
          </a:prstGeom>
          <a:effectLst>
            <a:outerShdw sx="100000" sy="100000" kx="0" ky="0" algn="bl" rotWithShape="0" blurRad="114300" dist="50800" dir="5400000">
              <a:srgbClr val="2B2926">
                <a:alpha val="16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Fin de traitement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Résultat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</a:t>
            </a:r>
            <a:endParaRPr lang="en-US" sz="2900" dirty="0"/>
          </a:p>
        </p:txBody>
      </p:sp>
      <p:sp>
        <p:nvSpPr>
          <p:cNvPr id="10" name="Text 6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 II devenue quasi Classe III · hyper-Classe I tenu · sans extraction, sans chirurgie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758212" y="2313525"/>
            <a:ext cx="468102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Face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374048" y="2313525"/>
            <a:ext cx="741741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Sourire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7194072" y="2313525"/>
            <a:ext cx="607005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Profil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9702557" y="2313525"/>
            <a:ext cx="1095348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Occlusales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6" name="Image 2" descr="/home/user/Carrousel-TS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136629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8" name="Text 13"/>
          <p:cNvSpPr/>
          <p:nvPr/>
        </p:nvSpPr>
        <p:spPr>
          <a:xfrm>
            <a:off x="10136629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7168" y="6292693"/>
            <a:ext cx="602243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6673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Quiz · la dépose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4884417"/>
            <a:ext cx="8889778" cy="109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enlève les vis.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Faut-il anesthésier 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5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13732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1013732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7863" y="6292693"/>
            <a:ext cx="60154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476140"/>
            <a:ext cx="10870928" cy="4505411"/>
          </a:xfrm>
          <a:prstGeom prst="roundRect">
            <a:avLst>
              <a:gd name="adj" fmla="val 2819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La réponse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5089001" y="3624073"/>
            <a:ext cx="2064393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Vidéo — dépose des vis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7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152503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152503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83043" y="6292693"/>
            <a:ext cx="58636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3484376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3" name="Shape 1"/>
          <p:cNvSpPr/>
          <p:nvPr/>
        </p:nvSpPr>
        <p:spPr>
          <a:xfrm>
            <a:off x="6235544" y="3484376"/>
            <a:ext cx="5295768" cy="209545"/>
          </a:xfrm>
          <a:prstGeom prst="roundRect">
            <a:avLst>
              <a:gd name="adj" fmla="val 50000"/>
            </a:avLst>
          </a:prstGeom>
          <a:solidFill>
            <a:srgbClr val="EFE7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palais après dépose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 trou de vis au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site cicatrisé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5816455"/>
            <a:ext cx="10921727" cy="165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Illustration sur une autre patiente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81667" y="3484376"/>
            <a:ext cx="2304000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À la dépose — trou de vis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889678" y="3484376"/>
            <a:ext cx="2038299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Après — site cicatrisé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0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136827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10136827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67366" y="6292693"/>
            <a:ext cx="60204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4459" y="1285644"/>
            <a:ext cx="4246853" cy="4695906"/>
          </a:xfrm>
          <a:prstGeom prst="roundRect">
            <a:avLst>
              <a:gd name="adj" fmla="val 2990"/>
            </a:avLst>
          </a:prstGeom>
          <a:solidFill>
            <a:srgbClr val="EFE7D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Le vrai coût osseux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 réponds à ceux qui auraient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extrait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2967559"/>
            <a:ext cx="6370081" cy="456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pourrait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compenser + extraire 2 prémolaires — une option légitime.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538449"/>
            <a:ext cx="6420880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 de vis ~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mm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cicatrise sans trace.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60383" y="3881043"/>
            <a:ext cx="6420880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Alvéole de prémolaire ~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× 7 mm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une dizaine de sites de vis.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60383" y="4223637"/>
            <a:ext cx="6420880" cy="228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ortho </a:t>
            </a:r>
            <a:pPr algn="l" indent="0" marL="0">
              <a:lnSpc>
                <a:spcPct val="124000"/>
              </a:lnSpc>
              <a:buNone/>
            </a:pPr>
            <a:r>
              <a:rPr lang="en-US" sz="145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symétrique</a:t>
            </a:r>
            <a:pPr algn="l" indent="0" marL="0">
              <a:lnSpc>
                <a:spcPct val="124000"/>
              </a:lnSpc>
              <a:buNone/>
            </a:pPr>
            <a:r>
              <a:rPr lang="en-US" sz="145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2 à 4 dents saines. La vis : aucune.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5591" y="3528825"/>
            <a:ext cx="3875288" cy="2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0A7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Démo — alvéole vs ronds de vis à l'échelle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1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13960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1013960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0144" y="6292693"/>
            <a:ext cx="599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Tips 1/3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TAD-first — changer de plan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sans redémarrer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2941266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Appareil sur vis : on dépose l'armature, on modifie, on repose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sans toucher aux vis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357280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TAD-last, il aurait fallu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redéposer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773294"/>
            <a:ext cx="10870928" cy="552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Leçon — chez l'ado dont le plan peut bouger,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TAD-first = liberté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changer de dispositif en cours de route.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0130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010130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1847" y="6292693"/>
            <a:ext cx="63756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Tips 2/3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Anticiper le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 B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079375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Prévoir les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vérins de distalisation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dès la pose (sécurité, ne coûte rien).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495389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Sur-corriger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(hyper-Classe I) quand la compliance est incertaine.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3911403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Leçon — chez l'ado, on règle en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anticipant la non-compliance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48138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0148138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8677" y="6292693"/>
            <a:ext cx="59073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Tips 3/3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labo réactif change les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possibles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2941266"/>
            <a:ext cx="10870928" cy="552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conversion Herbst rapide n'a été possible que grâce à une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fabrication réactive et intégrée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(SmileLab).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3633597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délai rédhibitoire devient une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manœuvre de quelques jours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60383" y="4049611"/>
            <a:ext cx="10921727" cy="27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Leçon — </a:t>
            </a:r>
            <a:pPr algn="l" indent="0" marL="0">
              <a:lnSpc>
                <a:spcPct val="128000"/>
              </a:lnSpc>
              <a:buNone/>
            </a:pPr>
            <a:r>
              <a:rPr lang="en-US" sz="1700" b="1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piloter la fabrication</a:t>
            </a:r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5753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ouvre des options cliniques.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8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113214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0113214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43753" y="6292693"/>
            <a:ext cx="625658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203795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TAD-first vs TAD-last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Changer de plan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sans redémarrer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933427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TAD-first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76838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TAD-last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3427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L'ancrage osseux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d'abord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le reste s'y adapte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33427" y="231977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Armature retirée sans toucher aux vis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3427" y="2706223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Empreinte, labo, repose : on change de cap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76838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L'ancrage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dernier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le plan est figé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76838" y="231977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Changer de plan = souvent redémarrer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76838" y="2706223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Moins d'options quand l'imprévu survient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5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109046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10109046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9586" y="6292693"/>
            <a:ext cx="629825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0383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203795" y="1323743"/>
            <a:ext cx="5327517" cy="4657807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E7E1D5"/>
            </a:solidFill>
            <a:prstDash val="solid"/>
          </a:ln>
          <a:effectLst>
            <a:outerShdw sx="100000" sy="100000" kx="0" ky="0" algn="bl" rotWithShape="0" blurRad="127000" dist="63500" dir="5400000">
              <a:srgbClr val="2B2926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0383" y="444489"/>
            <a:ext cx="10921727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2 · Ce que ça change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60383" y="742931"/>
            <a:ext cx="10921727" cy="390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lui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 Pour 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nous</a:t>
            </a:r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2B29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933427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lui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76838" y="1571387"/>
            <a:ext cx="4832229" cy="222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A37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Pour nous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33427" y="1933328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chirurgies évitées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33427" y="231977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 garde son visage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933427" y="2706223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Respiration et sommeil corrigés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76838" y="1933328"/>
            <a:ext cx="4781430" cy="633198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seul ancrage, deux plans, changement de cap sans redémarrer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76838" y="2566526"/>
            <a:ext cx="4832229" cy="386447"/>
          </a:xfrm>
          <a:prstGeom prst="rect">
            <a:avLst/>
          </a:prstGeom>
          <a:noFill/>
          <a:ln/>
        </p:spPr>
        <p:txBody>
          <a:bodyPr wrap="none" lIns="6985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450" b="1" dirty="0">
                <a:solidFill>
                  <a:srgbClr val="C3A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▪  </a:t>
            </a:r>
            <a:pPr algn="l" indent="0" marL="0">
              <a:lnSpc>
                <a:spcPct val="134000"/>
              </a:lnSpc>
              <a:buNone/>
            </a:pPr>
            <a:r>
              <a:rPr lang="en-US" sz="1450" dirty="0">
                <a:solidFill>
                  <a:srgbClr val="2B29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clé chez l'ado dont la croissance est incertaine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DED6C8"/>
            </a:solidFill>
            <a:prstDash val="solid"/>
          </a:ln>
        </p:spPr>
      </p:sp>
      <p:pic>
        <p:nvPicPr>
          <p:cNvPr id="14" name="Image 0" descr="/home/user/Carrousel-TS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098827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9B927F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10098827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A827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9367" y="6292693"/>
            <a:ext cx="640044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2B2926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383" y="1935908"/>
            <a:ext cx="10921727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chute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60383" y="2348648"/>
            <a:ext cx="9524762" cy="110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 1, la vis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ancrait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Ici, elle est 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C3A4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polyvalente</a:t>
            </a:r>
            <a:pPr algn="l" indent="0" marL="0">
              <a:lnSpc>
                <a:spcPct val="114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60383" y="3664652"/>
            <a:ext cx="10870928" cy="82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même ancrage osseux, deux plans, sans redémarrer.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clé chez l'ado, Classe II comme Classe III.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0383" y="6083148"/>
            <a:ext cx="10870928" cy="0"/>
          </a:xfrm>
          <a:prstGeom prst="line">
            <a:avLst/>
          </a:prstGeom>
          <a:noFill/>
          <a:ln w="12700">
            <a:solidFill>
              <a:srgbClr val="6A655C"/>
            </a:solidFill>
            <a:prstDash val="solid"/>
          </a:ln>
        </p:spPr>
      </p:sp>
      <p:pic>
        <p:nvPicPr>
          <p:cNvPr id="6" name="Image 0" descr="/home/user/Carrousel-TS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83" y="6219670"/>
            <a:ext cx="724676" cy="3936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01605" y="6216495"/>
            <a:ext cx="678143" cy="400040"/>
          </a:xfrm>
          <a:prstGeom prst="roundRect">
            <a:avLst>
              <a:gd name="adj" fmla="val 19048"/>
            </a:avLst>
          </a:prstGeom>
          <a:ln w="19050">
            <a:solidFill>
              <a:srgbClr val="8A857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10101605" y="6216495"/>
            <a:ext cx="678143" cy="40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8D2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ULB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2145" y="6292693"/>
            <a:ext cx="637266" cy="2476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30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lvl1pPr>
          </a:lstStyle>
          <a:p>
            <a:pPr algn="ct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Smile Space — Cas 2 · Antoine</dc:title>
  <dc:subject>PptxGenJS Presentation</dc:subject>
  <dc:creator>PptxGenJS</dc:creator>
  <cp:lastModifiedBy>PptxGenJS</cp:lastModifiedBy>
  <cp:revision>1</cp:revision>
  <dcterms:created xsi:type="dcterms:W3CDTF">2026-09-07T21:15:51Z</dcterms:created>
  <dcterms:modified xsi:type="dcterms:W3CDTF">2026-09-07T21:15:51Z</dcterms:modified>
</cp:coreProperties>
</file>