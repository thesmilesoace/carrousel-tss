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-15-1.jpg" ContentType="image/jpg"/>
  <Override PartName="/ppt/media/image-15-2.jpg" ContentType="image/jpg"/>
  <Override PartName="/ppt/media/image-9-1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4"/>
    <p:sldId id="263" r:id="rId15"/>
    <p:sldId id="264" r:id="rId13"/>
    <p:sldId id="265" r:id="rId12"/>
    <p:sldId id="266" r:id="rId11"/>
    <p:sldId id="267" r:id="rId10"/>
    <p:sldId id="268" r:id="rId9"/>
    <p:sldId id="269" r:id="rId8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88" d="100"/>
          <a:sy n="88" d="100"/>
        </p:scale>
        <p:origin x="228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4.xml"/><Relationship Id="rId9" Type="http://schemas.openxmlformats.org/officeDocument/2006/relationships/slide" Target="slides/slide13.xml"/><Relationship Id="rId10" Type="http://schemas.openxmlformats.org/officeDocument/2006/relationships/slide" Target="slides/slide12.xml"/><Relationship Id="rId11" Type="http://schemas.openxmlformats.org/officeDocument/2006/relationships/slide" Target="slides/slide11.xml"/><Relationship Id="rId12" Type="http://schemas.openxmlformats.org/officeDocument/2006/relationships/slide" Target="slides/slide10.xml"/><Relationship Id="rId13" Type="http://schemas.openxmlformats.org/officeDocument/2006/relationships/slide" Target="slides/slide9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6/11/relationships/changesInfo" Target="changesInfos/changesInfo1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os Tsague" userId="a73c678b-71a2-4012-808b-15a477686bb0" providerId="ADAL" clId="{3C493BA8-B876-495B-AF8A-B835B062FB1C}"/>
    <pc:docChg chg="custSel modSld">
      <pc:chgData name="Linos Tsague" userId="a73c678b-71a2-4012-808b-15a477686bb0" providerId="ADAL" clId="{3C493BA8-B876-495B-AF8A-B835B062FB1C}" dt="2026-09-06T19:53:49.438" v="79" actId="1076"/>
      <pc:docMkLst>
        <pc:docMk/>
      </pc:docMkLst>
      <pc:sldChg chg="modSp mod">
        <pc:chgData name="Linos Tsague" userId="a73c678b-71a2-4012-808b-15a477686bb0" providerId="ADAL" clId="{3C493BA8-B876-495B-AF8A-B835B062FB1C}" dt="2026-09-06T19:53:49.438" v="79" actId="1076"/>
        <pc:sldMkLst>
          <pc:docMk/>
          <pc:sldMk cId="0" sldId="256"/>
        </pc:sldMkLst>
        <pc:picChg chg="mod">
          <ac:chgData name="Linos Tsague" userId="a73c678b-71a2-4012-808b-15a477686bb0" providerId="ADAL" clId="{3C493BA8-B876-495B-AF8A-B835B062FB1C}" dt="2026-09-06T19:53:49.438" v="79" actId="1076"/>
          <ac:picMkLst>
            <pc:docMk/>
            <pc:sldMk cId="0" sldId="256"/>
            <ac:picMk id="12" creationId="{00000000-0000-0000-0000-000000000000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45:09.752" v="41" actId="1076"/>
        <pc:sldMkLst>
          <pc:docMk/>
          <pc:sldMk cId="0" sldId="257"/>
        </pc:sldMkLst>
        <pc:picChg chg="del">
          <ac:chgData name="Linos Tsague" userId="a73c678b-71a2-4012-808b-15a477686bb0" providerId="ADAL" clId="{3C493BA8-B876-495B-AF8A-B835B062FB1C}" dt="2026-09-06T11:16:59.420" v="1" actId="478"/>
          <ac:picMkLst>
            <pc:docMk/>
            <pc:sldMk cId="0" sldId="257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6:59.420" v="1" actId="478"/>
          <ac:picMkLst>
            <pc:docMk/>
            <pc:sldMk cId="0" sldId="257"/>
            <ac:picMk id="3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7:03.997" v="2" actId="478"/>
          <ac:picMkLst>
            <pc:docMk/>
            <pc:sldMk cId="0" sldId="257"/>
            <ac:picMk id="4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7:03.997" v="2" actId="478"/>
          <ac:picMkLst>
            <pc:docMk/>
            <pc:sldMk cId="0" sldId="257"/>
            <ac:picMk id="5" creationId="{00000000-0000-0000-0000-000000000000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2" creationId="{97741372-AAB5-C1D9-7F72-BE309689084D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4" creationId="{C1C709FA-5C71-4008-85DC-F477FB7A9DEA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6" creationId="{21E0B09E-EA75-3BC5-E757-FC0E16B385A1}"/>
          </ac:picMkLst>
        </pc:picChg>
        <pc:picChg chg="add del mod">
          <ac:chgData name="Linos Tsague" userId="a73c678b-71a2-4012-808b-15a477686bb0" providerId="ADAL" clId="{3C493BA8-B876-495B-AF8A-B835B062FB1C}" dt="2026-09-06T11:43:42.376" v="19" actId="478"/>
          <ac:picMkLst>
            <pc:docMk/>
            <pc:sldMk cId="0" sldId="257"/>
            <ac:picMk id="18" creationId="{7257B72A-B0D4-4F8C-0C5A-FA81731F61B6}"/>
          </ac:picMkLst>
        </pc:picChg>
        <pc:picChg chg="add mod">
          <ac:chgData name="Linos Tsague" userId="a73c678b-71a2-4012-808b-15a477686bb0" providerId="ADAL" clId="{3C493BA8-B876-495B-AF8A-B835B062FB1C}" dt="2026-09-06T11:45:00.058" v="37" actId="1076"/>
          <ac:picMkLst>
            <pc:docMk/>
            <pc:sldMk cId="0" sldId="257"/>
            <ac:picMk id="20" creationId="{2B951067-60FD-E369-9246-80808863BBAD}"/>
          </ac:picMkLst>
        </pc:picChg>
        <pc:picChg chg="add mod">
          <ac:chgData name="Linos Tsague" userId="a73c678b-71a2-4012-808b-15a477686bb0" providerId="ADAL" clId="{3C493BA8-B876-495B-AF8A-B835B062FB1C}" dt="2026-09-06T11:45:03.811" v="39" actId="1076"/>
          <ac:picMkLst>
            <pc:docMk/>
            <pc:sldMk cId="0" sldId="257"/>
            <ac:picMk id="22" creationId="{A7BFDE98-9493-2ABD-95E2-20ADA6E8C7A0}"/>
          </ac:picMkLst>
        </pc:picChg>
        <pc:picChg chg="add mod">
          <ac:chgData name="Linos Tsague" userId="a73c678b-71a2-4012-808b-15a477686bb0" providerId="ADAL" clId="{3C493BA8-B876-495B-AF8A-B835B062FB1C}" dt="2026-09-06T11:45:06.163" v="40" actId="1076"/>
          <ac:picMkLst>
            <pc:docMk/>
            <pc:sldMk cId="0" sldId="257"/>
            <ac:picMk id="24" creationId="{82546D60-FE5B-CC89-00CB-28D0324D486B}"/>
          </ac:picMkLst>
        </pc:picChg>
        <pc:picChg chg="add mod">
          <ac:chgData name="Linos Tsague" userId="a73c678b-71a2-4012-808b-15a477686bb0" providerId="ADAL" clId="{3C493BA8-B876-495B-AF8A-B835B062FB1C}" dt="2026-09-06T11:45:09.752" v="41" actId="1076"/>
          <ac:picMkLst>
            <pc:docMk/>
            <pc:sldMk cId="0" sldId="257"/>
            <ac:picMk id="27" creationId="{77F1EEF7-0AA4-8DE8-5D58-BCDA43C30BFB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48:37.266" v="54" actId="1076"/>
        <pc:sldMkLst>
          <pc:docMk/>
          <pc:sldMk cId="0" sldId="258"/>
        </pc:sldMkLst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3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18:44.235" v="18" actId="478"/>
          <ac:picMkLst>
            <pc:docMk/>
            <pc:sldMk cId="0" sldId="258"/>
            <ac:picMk id="4" creationId="{00000000-0000-0000-0000-000000000000}"/>
          </ac:picMkLst>
        </pc:picChg>
        <pc:picChg chg="add del mod">
          <ac:chgData name="Linos Tsague" userId="a73c678b-71a2-4012-808b-15a477686bb0" providerId="ADAL" clId="{3C493BA8-B876-495B-AF8A-B835B062FB1C}" dt="2026-09-06T11:48:22.560" v="50" actId="478"/>
          <ac:picMkLst>
            <pc:docMk/>
            <pc:sldMk cId="0" sldId="258"/>
            <ac:picMk id="11" creationId="{33C49486-AB05-4D3F-C1F7-D75E14C1ECCD}"/>
          </ac:picMkLst>
        </pc:picChg>
        <pc:picChg chg="add mod">
          <ac:chgData name="Linos Tsague" userId="a73c678b-71a2-4012-808b-15a477686bb0" providerId="ADAL" clId="{3C493BA8-B876-495B-AF8A-B835B062FB1C}" dt="2026-09-06T11:48:33.618" v="53" actId="1076"/>
          <ac:picMkLst>
            <pc:docMk/>
            <pc:sldMk cId="0" sldId="258"/>
            <ac:picMk id="13" creationId="{B1B92EA5-044D-048A-6A04-4632B1F37CAF}"/>
          </ac:picMkLst>
        </pc:picChg>
        <pc:picChg chg="add mod">
          <ac:chgData name="Linos Tsague" userId="a73c678b-71a2-4012-808b-15a477686bb0" providerId="ADAL" clId="{3C493BA8-B876-495B-AF8A-B835B062FB1C}" dt="2026-09-06T11:48:37.266" v="54" actId="1076"/>
          <ac:picMkLst>
            <pc:docMk/>
            <pc:sldMk cId="0" sldId="258"/>
            <ac:picMk id="15" creationId="{4D34EF60-E5DA-5797-C310-43322A925BE6}"/>
          </ac:picMkLst>
        </pc:picChg>
        <pc:picChg chg="add mod">
          <ac:chgData name="Linos Tsague" userId="a73c678b-71a2-4012-808b-15a477686bb0" providerId="ADAL" clId="{3C493BA8-B876-495B-AF8A-B835B062FB1C}" dt="2026-09-06T11:47:52.445" v="46" actId="1076"/>
          <ac:picMkLst>
            <pc:docMk/>
            <pc:sldMk cId="0" sldId="258"/>
            <ac:picMk id="17" creationId="{3EE434C5-FC10-523E-243D-5E13015E231D}"/>
          </ac:picMkLst>
        </pc:picChg>
      </pc:sldChg>
      <pc:sldChg chg="addSp delSp modSp mod">
        <pc:chgData name="Linos Tsague" userId="a73c678b-71a2-4012-808b-15a477686bb0" providerId="ADAL" clId="{3C493BA8-B876-495B-AF8A-B835B062FB1C}" dt="2026-09-06T11:50:01.588" v="64" actId="1076"/>
        <pc:sldMkLst>
          <pc:docMk/>
          <pc:sldMk cId="0" sldId="259"/>
        </pc:sldMkLst>
        <pc:picChg chg="del">
          <ac:chgData name="Linos Tsague" userId="a73c678b-71a2-4012-808b-15a477686bb0" providerId="ADAL" clId="{3C493BA8-B876-495B-AF8A-B835B062FB1C}" dt="2026-09-06T11:49:00.798" v="55" actId="478"/>
          <ac:picMkLst>
            <pc:docMk/>
            <pc:sldMk cId="0" sldId="259"/>
            <ac:picMk id="2" creationId="{00000000-0000-0000-0000-000000000000}"/>
          </ac:picMkLst>
        </pc:picChg>
        <pc:picChg chg="del">
          <ac:chgData name="Linos Tsague" userId="a73c678b-71a2-4012-808b-15a477686bb0" providerId="ADAL" clId="{3C493BA8-B876-495B-AF8A-B835B062FB1C}" dt="2026-09-06T11:49:00.798" v="55" actId="478"/>
          <ac:picMkLst>
            <pc:docMk/>
            <pc:sldMk cId="0" sldId="259"/>
            <ac:picMk id="3" creationId="{00000000-0000-0000-0000-000000000000}"/>
          </ac:picMkLst>
        </pc:picChg>
        <pc:picChg chg="add mod">
          <ac:chgData name="Linos Tsague" userId="a73c678b-71a2-4012-808b-15a477686bb0" providerId="ADAL" clId="{3C493BA8-B876-495B-AF8A-B835B062FB1C}" dt="2026-09-06T11:50:01.588" v="64" actId="1076"/>
          <ac:picMkLst>
            <pc:docMk/>
            <pc:sldMk cId="0" sldId="259"/>
            <ac:picMk id="10" creationId="{0F1B71F8-296F-0800-89E0-5E2567B776E4}"/>
          </ac:picMkLst>
        </pc:picChg>
        <pc:picChg chg="add mod">
          <ac:chgData name="Linos Tsague" userId="a73c678b-71a2-4012-808b-15a477686bb0" providerId="ADAL" clId="{3C493BA8-B876-495B-AF8A-B835B062FB1C}" dt="2026-09-06T11:49:49.261" v="63" actId="14100"/>
          <ac:picMkLst>
            <pc:docMk/>
            <pc:sldMk cId="0" sldId="259"/>
            <ac:picMk id="12" creationId="{8B8044E7-55ED-D23B-2435-62062BB826A7}"/>
          </ac:picMkLst>
        </pc:picChg>
      </pc:sldChg>
      <pc:sldChg chg="modSp mod">
        <pc:chgData name="Linos Tsague" userId="a73c678b-71a2-4012-808b-15a477686bb0" providerId="ADAL" clId="{3C493BA8-B876-495B-AF8A-B835B062FB1C}" dt="2026-09-06T11:51:37.288" v="71" actId="1076"/>
        <pc:sldMkLst>
          <pc:docMk/>
          <pc:sldMk cId="0" sldId="262"/>
        </pc:sldMkLst>
        <pc:spChg chg="mod">
          <ac:chgData name="Linos Tsague" userId="a73c678b-71a2-4012-808b-15a477686bb0" providerId="ADAL" clId="{3C493BA8-B876-495B-AF8A-B835B062FB1C}" dt="2026-09-06T11:51:37.288" v="71" actId="1076"/>
          <ac:spMkLst>
            <pc:docMk/>
            <pc:sldMk cId="0" sldId="262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0:56.033" v="67" actId="1076"/>
          <ac:spMkLst>
            <pc:docMk/>
            <pc:sldMk cId="0" sldId="262"/>
            <ac:spMk id="5" creationId="{00000000-0000-0000-0000-000000000000}"/>
          </ac:spMkLst>
        </pc:spChg>
      </pc:sldChg>
      <pc:sldChg chg="modSp mod">
        <pc:chgData name="Linos Tsague" userId="a73c678b-71a2-4012-808b-15a477686bb0" providerId="ADAL" clId="{3C493BA8-B876-495B-AF8A-B835B062FB1C}" dt="2026-09-06T11:51:23.951" v="70" actId="1076"/>
        <pc:sldMkLst>
          <pc:docMk/>
          <pc:sldMk cId="0" sldId="263"/>
        </pc:sldMkLst>
        <pc:spChg chg="mod">
          <ac:chgData name="Linos Tsague" userId="a73c678b-71a2-4012-808b-15a477686bb0" providerId="ADAL" clId="{3C493BA8-B876-495B-AF8A-B835B062FB1C}" dt="2026-09-06T11:51:23.951" v="70" actId="1076"/>
          <ac:spMkLst>
            <pc:docMk/>
            <pc:sldMk cId="0" sldId="263"/>
            <ac:spMk id="3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1:16.930" v="69" actId="1076"/>
          <ac:spMkLst>
            <pc:docMk/>
            <pc:sldMk cId="0" sldId="263"/>
            <ac:spMk id="5" creationId="{00000000-0000-0000-0000-000000000000}"/>
          </ac:spMkLst>
        </pc:spChg>
      </pc:sldChg>
      <pc:sldChg chg="addSp modSp mod">
        <pc:chgData name="Linos Tsague" userId="a73c678b-71a2-4012-808b-15a477686bb0" providerId="ADAL" clId="{3C493BA8-B876-495B-AF8A-B835B062FB1C}" dt="2026-09-06T11:54:54.048" v="75" actId="1076"/>
        <pc:sldMkLst>
          <pc:docMk/>
          <pc:sldMk cId="0" sldId="264"/>
        </pc:sldMkLst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9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0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1" creationId="{00000000-0000-0000-0000-000000000000}"/>
          </ac:spMkLst>
        </pc:spChg>
        <pc:spChg chg="mod">
          <ac:chgData name="Linos Tsague" userId="a73c678b-71a2-4012-808b-15a477686bb0" providerId="ADAL" clId="{3C493BA8-B876-495B-AF8A-B835B062FB1C}" dt="2026-09-06T11:54:48.829" v="74" actId="1076"/>
          <ac:spMkLst>
            <pc:docMk/>
            <pc:sldMk cId="0" sldId="264"/>
            <ac:spMk id="12" creationId="{00000000-0000-0000-0000-000000000000}"/>
          </ac:spMkLst>
        </pc:spChg>
        <pc:picChg chg="add mod">
          <ac:chgData name="Linos Tsague" userId="a73c678b-71a2-4012-808b-15a477686bb0" providerId="ADAL" clId="{3C493BA8-B876-495B-AF8A-B835B062FB1C}" dt="2026-09-06T11:54:54.048" v="75" actId="1076"/>
          <ac:picMkLst>
            <pc:docMk/>
            <pc:sldMk cId="0" sldId="264"/>
            <ac:picMk id="19" creationId="{A32D64E8-0F89-6C36-41D3-B7A5BC5B2F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07510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Deuxième patient. Antoine, 15 ans et demi. On monte d'un cran : ici, quelque chose commence à changer. (Énergie : intrigué)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motif, l'histoire d'Antoine, les 3 avis reçus. Raconter, pas décrire.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[Doc intra — latéral D / face / latéral G.] Classe II, rapports transverses.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[Vues occlusales — maxillaire / mandibulaire.] Forme d'arcade, déficit transverse.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[Panoramique.] Bilan général, dents de sagesse.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Classe II squelettique, profil convexe, croissance quasi finie.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2145" y="6292693"/>
            <a:ext cx="63726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2145" y="6292693"/>
            <a:ext cx="63726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jpg"/><Relationship Id="rId6" Type="http://schemas.openxmlformats.org/officeDocument/2006/relationships/image" Target="../media/image11.jpg"/><Relationship Id="rId7" Type="http://schemas.openxmlformats.org/officeDocument/2006/relationships/image" Target="../media/image1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jpg"/><Relationship Id="rId6" Type="http://schemas.openxmlformats.org/officeDocument/2006/relationships/image" Target="../media/image1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15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7-2.png"/><Relationship Id="rId3" Type="http://schemas.openxmlformats.org/officeDocument/2006/relationships/image" Target="../media/Slide-7-image-1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2.png"/><Relationship Id="rId3" Type="http://schemas.openxmlformats.org/officeDocument/2006/relationships/image" Target="../media/Slide-8-image-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9-1.jpg"/><Relationship Id="rId3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5-1.jpg"/><Relationship Id="rId3" Type="http://schemas.openxmlformats.org/officeDocument/2006/relationships/image" Target="../media/image-15-2.jpg"/><Relationship Id="rId4" Type="http://schemas.openxmlformats.org/officeDocument/2006/relationships/image" Target="../media/image-15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6-2.png"/><Relationship Id="rId3" Type="http://schemas.openxmlformats.org/officeDocument/2006/relationships/image" Target="../media/Slide-16-image-1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0-1.png"/><Relationship Id="rId3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1-1.png"/><Relationship Id="rId3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5-2.png"/><Relationship Id="rId3" Type="http://schemas.openxmlformats.org/officeDocument/2006/relationships/image" Target="../media/Slide-25-image-1.png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60383" y="1699178"/>
            <a:ext cx="690862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Smile Space · Cas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2086518"/>
            <a:ext cx="6908627" cy="933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75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Antoine</a:t>
            </a:r>
            <a:endParaRPr lang="en-US" sz="75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185041"/>
            <a:ext cx="6908627" cy="349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14-18 ans · 15,5 ans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635879"/>
            <a:ext cx="6908627" cy="2844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Motif —</a:t>
            </a:r>
            <a:r>
              <a:rPr lang="en-US" sz="16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dents pas droites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4047329"/>
            <a:ext cx="69086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Classe II · déficit transverse · troubles du sommeil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4434670"/>
            <a:ext cx="6908627" cy="2920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« Les vis polyvalentes »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9" name="Image 0" descr="/home/user/Carrousel-TSS/assets/logo-l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27513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1" name="Text 8"/>
          <p:cNvSpPr/>
          <p:nvPr/>
        </p:nvSpPr>
        <p:spPr>
          <a:xfrm>
            <a:off x="1027513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pic>
        <p:nvPicPr>
          <p:cNvPr id="12" name="Image 1" descr="/home/user/Carrousel-TSS/assets/carrousels/antoine/exo/face_sourire_cutou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8007" y="375094"/>
            <a:ext cx="4442006" cy="5694053"/>
          </a:xfrm>
          <a:prstGeom prst="rect">
            <a:avLst/>
          </a:prstGeom>
          <a:effectLst>
            <a:outerShdw blurRad="177800" dist="76200" dir="5400000" algn="bl" rotWithShape="0">
              <a:srgbClr val="000000">
                <a:alpha val="40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5674" y="6292693"/>
            <a:ext cx="463737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7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8" name="Image 4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2"/>
          <p:cNvSpPr/>
          <p:nvPr/>
        </p:nvSpPr>
        <p:spPr>
          <a:xfrm>
            <a:off x="1024011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10" name="Text 3"/>
          <p:cNvSpPr/>
          <p:nvPr/>
        </p:nvSpPr>
        <p:spPr>
          <a:xfrm>
            <a:off x="1024011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70651" y="6292693"/>
            <a:ext cx="49876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2</a:t>
            </a:fld>
            <a:endParaRPr lang="en-US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2B951067-60FD-E369-9246-80808863BB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998" y="1319010"/>
            <a:ext cx="2730862" cy="4096293"/>
          </a:xfrm>
          <a:prstGeom prst="rect">
            <a:avLst/>
          </a:prstGeom>
        </p:spPr>
      </p:pic>
      <p:pic>
        <p:nvPicPr>
          <p:cNvPr id="22" name="Image 21">
            <a:extLst>
              <a:ext uri="{FF2B5EF4-FFF2-40B4-BE49-F238E27FC236}">
                <a16:creationId xmlns:a16="http://schemas.microsoft.com/office/drawing/2014/main" id="{A7BFDE98-9493-2ABD-95E2-20ADA6E8C7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7291" y="1319010"/>
            <a:ext cx="2730862" cy="4097387"/>
          </a:xfrm>
          <a:prstGeom prst="rect">
            <a:avLst/>
          </a:prstGeom>
        </p:spPr>
      </p:pic>
      <p:pic>
        <p:nvPicPr>
          <p:cNvPr id="24" name="Image 23">
            <a:extLst>
              <a:ext uri="{FF2B5EF4-FFF2-40B4-BE49-F238E27FC236}">
                <a16:creationId xmlns:a16="http://schemas.microsoft.com/office/drawing/2014/main" id="{82546D60-FE5B-CC89-00CB-28D0324D48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3849" y="1317917"/>
            <a:ext cx="2732369" cy="4097386"/>
          </a:xfrm>
          <a:prstGeom prst="rect">
            <a:avLst/>
          </a:prstGeom>
        </p:spPr>
      </p:pic>
      <p:pic>
        <p:nvPicPr>
          <p:cNvPr id="27" name="Image 26">
            <a:extLst>
              <a:ext uri="{FF2B5EF4-FFF2-40B4-BE49-F238E27FC236}">
                <a16:creationId xmlns:a16="http://schemas.microsoft.com/office/drawing/2014/main" id="{77F1EEF7-0AA4-8DE8-5D58-BCDA43C30BF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31914" y="1317916"/>
            <a:ext cx="2732362" cy="409738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6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3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1023604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3"/>
          <p:cNvSpPr/>
          <p:nvPr/>
        </p:nvSpPr>
        <p:spPr>
          <a:xfrm>
            <a:off x="1023604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6583" y="6292693"/>
            <a:ext cx="50282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3</a:t>
            </a:fld>
            <a:endParaRPr lang="en-US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B1B92EA5-044D-048A-6A04-4632B1F37C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088927"/>
            <a:ext cx="3809433" cy="2537015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4D34EF60-E5DA-5797-C310-43322A925B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93727" y="2106433"/>
            <a:ext cx="3804239" cy="2537015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3EE434C5-FC10-523E-243D-5E13015E231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5151" y="2088928"/>
            <a:ext cx="3808250" cy="253701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5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6" name="Image 2" descr="/home/user/Carrousel-TSS/assets/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10225824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8" name="Text 3"/>
          <p:cNvSpPr/>
          <p:nvPr/>
        </p:nvSpPr>
        <p:spPr>
          <a:xfrm>
            <a:off x="10225824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6363" y="6292693"/>
            <a:ext cx="513047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0F1B71F8-296F-0800-89E0-5E2567B776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1657" y="1415144"/>
            <a:ext cx="5380453" cy="3521177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8B8044E7-55ED-D23B-2435-62062BB826A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7003" y="1415144"/>
            <a:ext cx="5278158" cy="35211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_antoine/photos/05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1196045"/>
            <a:ext cx="10870928" cy="4599085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4" name="Shape 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5" name="Image 1" descr="/home/user/Carrousel-TSS/assets/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0228602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7" name="Text 3"/>
          <p:cNvSpPr/>
          <p:nvPr/>
        </p:nvSpPr>
        <p:spPr>
          <a:xfrm>
            <a:off x="10228602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141" y="6292693"/>
            <a:ext cx="510269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arrousel-TSS/deck/out_antoine/photos/06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54235" y="1269175"/>
            <a:ext cx="3720764" cy="4712376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pic>
        <p:nvPicPr>
          <p:cNvPr id="3" name="Image 1" descr="/home/user/Carrousel-TSS/deck/out_antoine/photos/06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4925" y="1269175"/>
            <a:ext cx="3844307" cy="4712376"/>
          </a:xfrm>
          <a:prstGeom prst="rect">
            <a:avLst/>
          </a:prstGeom>
          <a:effectLst>
            <a:outerShdw blurRad="114300" dist="50800" dir="5400000" algn="bl" rotWithShape="0">
              <a:srgbClr val="2B2926">
                <a:alpha val="16000"/>
              </a:srgbClr>
            </a:outerShdw>
          </a:effectLst>
        </p:spPr>
      </p:pic>
      <p:sp>
        <p:nvSpPr>
          <p:cNvPr id="4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Documentation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660383" y="704832"/>
            <a:ext cx="7670608" cy="2722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4000"/>
              </a:lnSpc>
              <a:buNone/>
            </a:pPr>
            <a:r>
              <a:rPr lang="en-US" sz="16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Maturation vertébrale — CVS 3-4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  <p:txBody>
          <a:bodyPr/>
          <a:lstStyle/>
          <a:p>
            <a:endParaRPr lang="fr-BE"/>
          </a:p>
        </p:txBody>
      </p:sp>
      <p:pic>
        <p:nvPicPr>
          <p:cNvPr id="7" name="Image 2" descr="/home/user/Carrousel-TSS/assets/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1022919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  <p:txBody>
          <a:bodyPr/>
          <a:lstStyle/>
          <a:p>
            <a:endParaRPr lang="fr-BE"/>
          </a:p>
        </p:txBody>
      </p:sp>
      <p:sp>
        <p:nvSpPr>
          <p:cNvPr id="9" name="Text 4"/>
          <p:cNvSpPr/>
          <p:nvPr/>
        </p:nvSpPr>
        <p:spPr>
          <a:xfrm>
            <a:off x="1022919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59737" y="6292693"/>
            <a:ext cx="50967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782320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 plan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4267887"/>
            <a:ext cx="8889778" cy="109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</a:t>
            </a:r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chirurgies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</a:t>
            </a:r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seule</a:t>
            </a:r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60383" y="5403120"/>
            <a:ext cx="38099" cy="578431"/>
          </a:xfrm>
          <a:prstGeom prst="rect">
            <a:avLst/>
          </a:prstGeom>
          <a:solidFill>
            <a:srgbClr val="C3A46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60383" y="5403120"/>
            <a:ext cx="6984825" cy="578431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Corriger le transversal sans chirurgie à son âge — je le dis à la maman avec la réserve d'usage, mais j'y crois.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7" name="Image 0" descr="/home/user/Carrousel-TSS/assets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21223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021223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42771" y="6292693"/>
            <a:ext cx="52664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4948709"/>
            <a:ext cx="3996431" cy="450839"/>
          </a:xfrm>
          <a:prstGeom prst="roundRect">
            <a:avLst>
              <a:gd name="adj" fmla="val 19718"/>
            </a:avLst>
          </a:prstGeom>
          <a:solidFill>
            <a:srgbClr val="C3A46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60383" y="444489"/>
            <a:ext cx="2726165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question · à main levée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964881"/>
            <a:ext cx="8889778" cy="7679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 aurait posé l'indication de </a:t>
            </a:r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deux extractions de prémolaires</a:t>
            </a:r>
            <a:pPr algn="l" indent="0" marL="0">
              <a:lnSpc>
                <a:spcPct val="108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? Et qui ne l'aurait pas fait 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60383" y="5539244"/>
            <a:ext cx="38099" cy="442306"/>
          </a:xfrm>
          <a:prstGeom prst="rect">
            <a:avLst/>
          </a:prstGeom>
          <a:solidFill>
            <a:srgbClr val="C3A46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0383" y="5539244"/>
            <a:ext cx="6984825" cy="442306"/>
          </a:xfrm>
          <a:prstGeom prst="rect">
            <a:avLst/>
          </a:prstGeom>
          <a:noFill/>
          <a:ln/>
        </p:spPr>
        <p:txBody>
          <a:bodyPr wrap="square" lIns="0" tIns="21590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CVS 3-4 · presque 16 ans · Classe II · sommeil — 3 confrères : 2 chirurgies, la maman : 0.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4948709"/>
            <a:ext cx="3996431" cy="450839"/>
          </a:xfrm>
          <a:prstGeom prst="rect">
            <a:avLst/>
          </a:prstGeom>
          <a:noFill/>
          <a:ln/>
        </p:spPr>
        <p:txBody>
          <a:bodyPr wrap="square" lIns="101600" tIns="203200" rIns="2032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Gardez votre position — j'y reviens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9" name="Image 0" descr="/home/user/Carrousel-TSS/assets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9655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19655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27095" y="6292693"/>
            <a:ext cx="54231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691938" y="4150514"/>
            <a:ext cx="5679735" cy="577836"/>
          </a:xfrm>
          <a:prstGeom prst="roundRect">
            <a:avLst>
              <a:gd name="adj" fmla="val 19780"/>
            </a:avLst>
          </a:prstGeom>
          <a:solidFill>
            <a:srgbClr val="3A3733"/>
          </a:solidFill>
          <a:ln/>
        </p:spPr>
      </p:sp>
      <p:pic>
        <p:nvPicPr>
          <p:cNvPr id="3" name="Image 0" descr="/home/user/Carrousel-TSS/deck/out_antoine/photos/09_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1323743"/>
            <a:ext cx="4777561" cy="4657807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4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dispositif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MARPE modifié · 2 vérins de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distalisation</a:t>
            </a:r>
            <a:endParaRPr lang="en-US" sz="2900" dirty="0"/>
          </a:p>
        </p:txBody>
      </p:sp>
      <p:sp>
        <p:nvSpPr>
          <p:cNvPr id="6" name="Text 3"/>
          <p:cNvSpPr txBox="1"/>
          <p:nvPr/>
        </p:nvSpPr>
        <p:spPr>
          <a:xfrm>
            <a:off x="5691938" y="2729340"/>
            <a:ext cx="5839374" cy="456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MARPE modifié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appuis dentaires inclus (Moon, Pereira-Varella)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5691938" y="3300231"/>
            <a:ext cx="5890172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vérins de distalisation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recul + amorce de l'effet Classe II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5691938" y="3642825"/>
            <a:ext cx="5890172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Anticipé en sécurité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au cas où la 2e chirurgie serait refusée</a:t>
            </a:r>
            <a:endParaRPr lang="en-US" sz="1450" dirty="0"/>
          </a:p>
        </p:txBody>
      </p:sp>
      <p:sp>
        <p:nvSpPr>
          <p:cNvPr id="9" name="Text 6"/>
          <p:cNvSpPr txBox="1"/>
          <p:nvPr/>
        </p:nvSpPr>
        <p:spPr>
          <a:xfrm>
            <a:off x="5691938" y="4150514"/>
            <a:ext cx="5679735" cy="577836"/>
          </a:xfrm>
          <a:prstGeom prst="rect">
            <a:avLst/>
          </a:prstGeom>
          <a:noFill/>
          <a:ln/>
        </p:spPr>
        <p:txBody>
          <a:bodyPr wrap="square" lIns="165100" tIns="215900" rIns="21590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Idée —</a:t>
            </a:r>
            <a:pPr algn="l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un seul ancrage osseux, plusieurs plans possibles.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1" name="Image 1" descr="/home/user/Carrousel-TSS/assets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19933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3" name="Text 9"/>
          <p:cNvSpPr/>
          <p:nvPr/>
        </p:nvSpPr>
        <p:spPr>
          <a:xfrm>
            <a:off x="1019933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29873" y="6292693"/>
            <a:ext cx="53953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3" name="Shape 1"/>
          <p:cNvSpPr/>
          <p:nvPr/>
        </p:nvSpPr>
        <p:spPr>
          <a:xfrm>
            <a:off x="6235544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Après l'expansion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Après le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MARPE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1924200" y="3624073"/>
            <a:ext cx="2818933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Occlusales — gain transverse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32886" y="3624073"/>
            <a:ext cx="2951783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Intra — articulé croisé corrigé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9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3633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13633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66870" y="6292693"/>
            <a:ext cx="60254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refus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maman dit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à la 2e chirurgie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5816455"/>
            <a:ext cx="10921727" cy="165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Mais trop tard dans la croissance : déposer pour un multibague + Forsus serait trop long.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2939679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 mm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par le relâchement articulaire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3355693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 mm possibles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par les vérins de distalisation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3771706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un shift d'arcade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« je suis bon »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9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8316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18316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13700" y="6292693"/>
            <a:ext cx="555710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1323743"/>
            <a:ext cx="4352915" cy="4657807"/>
          </a:xfrm>
          <a:prstGeom prst="roundRect">
            <a:avLst>
              <a:gd name="adj" fmla="val 2918"/>
            </a:avLst>
          </a:prstGeom>
          <a:solidFill>
            <a:srgbClr val="EFE7D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problème à l'envers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Convertir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sans redémarrer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267293" y="3100806"/>
            <a:ext cx="6314818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Dépose de l'appareil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envoi au labo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5267293" y="3443400"/>
            <a:ext cx="6314818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Supports Herbst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sur les 6 bagues supérieures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267293" y="3785994"/>
            <a:ext cx="6314818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Armature dento-portée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appuis inférieurs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267293" y="4128587"/>
            <a:ext cx="6314818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Pose des pistons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le Herbst est en place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608891" y="3547875"/>
            <a:ext cx="250660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Photo — labo / conversion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1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148138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0148138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8677" y="6292693"/>
            <a:ext cx="59073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3" name="Shape 1"/>
          <p:cNvSpPr/>
          <p:nvPr/>
        </p:nvSpPr>
        <p:spPr>
          <a:xfrm>
            <a:off x="6235544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Herbst en place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L'effet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sagittal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démarre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2410757" y="3624073"/>
            <a:ext cx="184572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Intra — Herbst posé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39246" y="3624073"/>
            <a:ext cx="2739064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Profil — la mandibule avance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9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44070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144070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4609" y="6292693"/>
            <a:ext cx="594802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3" name="Shape 1"/>
          <p:cNvSpPr/>
          <p:nvPr/>
        </p:nvSpPr>
        <p:spPr>
          <a:xfrm>
            <a:off x="6235544" y="3624073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Les petits caractères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 que je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n'avais pas prévu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2324439" y="3624073"/>
            <a:ext cx="2018456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T0 + Herbst en bouche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618222" y="3624073"/>
            <a:ext cx="258121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Photo / vidéo — témoignage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9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10133851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10133851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64390" y="6292693"/>
            <a:ext cx="605021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1412641"/>
            <a:ext cx="2612960" cy="2011411"/>
          </a:xfrm>
          <a:prstGeom prst="roundRect">
            <a:avLst>
              <a:gd name="adj" fmla="val 6314"/>
            </a:avLst>
          </a:prstGeom>
          <a:solidFill>
            <a:srgbClr val="EFE7DC"/>
          </a:solidFill>
          <a:ln/>
        </p:spPr>
      </p:sp>
      <p:sp>
        <p:nvSpPr>
          <p:cNvPr id="3" name="Shape 1"/>
          <p:cNvSpPr/>
          <p:nvPr/>
        </p:nvSpPr>
        <p:spPr>
          <a:xfrm>
            <a:off x="3413040" y="1412641"/>
            <a:ext cx="2612960" cy="2011411"/>
          </a:xfrm>
          <a:prstGeom prst="roundRect">
            <a:avLst>
              <a:gd name="adj" fmla="val 6314"/>
            </a:avLst>
          </a:prstGeom>
          <a:solidFill>
            <a:srgbClr val="EFE7DC"/>
          </a:solidFill>
          <a:ln/>
        </p:spPr>
      </p:sp>
      <p:sp>
        <p:nvSpPr>
          <p:cNvPr id="4" name="Shape 2"/>
          <p:cNvSpPr/>
          <p:nvPr/>
        </p:nvSpPr>
        <p:spPr>
          <a:xfrm>
            <a:off x="6165696" y="1412641"/>
            <a:ext cx="2612960" cy="2011411"/>
          </a:xfrm>
          <a:prstGeom prst="roundRect">
            <a:avLst>
              <a:gd name="adj" fmla="val 6314"/>
            </a:avLst>
          </a:prstGeom>
          <a:solidFill>
            <a:srgbClr val="EFE7DC"/>
          </a:solidFill>
          <a:ln/>
        </p:spPr>
      </p:sp>
      <p:sp>
        <p:nvSpPr>
          <p:cNvPr id="5" name="Shape 3"/>
          <p:cNvSpPr/>
          <p:nvPr/>
        </p:nvSpPr>
        <p:spPr>
          <a:xfrm>
            <a:off x="8918352" y="1412641"/>
            <a:ext cx="2612960" cy="2011411"/>
          </a:xfrm>
          <a:prstGeom prst="roundRect">
            <a:avLst>
              <a:gd name="adj" fmla="val 6314"/>
            </a:avLst>
          </a:prstGeom>
          <a:solidFill>
            <a:srgbClr val="EFE7DC"/>
          </a:solidFill>
          <a:ln/>
        </p:spPr>
      </p:sp>
      <p:pic>
        <p:nvPicPr>
          <p:cNvPr id="6" name="Image 0" descr="/home/user/Carrousel-TSS/deck/out_antoine/photos/15_0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0539" y="3690746"/>
            <a:ext cx="1588156" cy="2011411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pic>
        <p:nvPicPr>
          <p:cNvPr id="7" name="Image 1" descr="/home/user/Carrousel-TSS/deck/out_antoine/photos/15_1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4895" y="3690746"/>
            <a:ext cx="1584366" cy="2011411"/>
          </a:xfrm>
          <a:prstGeom prst="rect">
            <a:avLst/>
          </a:prstGeom>
          <a:effectLst>
            <a:outerShdw sx="100000" sy="100000" kx="0" ky="0" algn="bl" rotWithShape="0" blurRad="114300" dist="50800" dir="5400000">
              <a:srgbClr val="2B2926">
                <a:alpha val="16000"/>
              </a:srgbClr>
            </a:outerShdw>
          </a:effectLst>
        </p:spPr>
      </p:pic>
      <p:sp>
        <p:nvSpPr>
          <p:cNvPr id="8" name="Text 4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Fin de traitement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Résultat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</a:t>
            </a:r>
            <a:endParaRPr lang="en-US" sz="2900" dirty="0"/>
          </a:p>
        </p:txBody>
      </p:sp>
      <p:sp>
        <p:nvSpPr>
          <p:cNvPr id="10" name="Text 6"/>
          <p:cNvSpPr txBox="1"/>
          <p:nvPr/>
        </p:nvSpPr>
        <p:spPr>
          <a:xfrm>
            <a:off x="660383" y="5816455"/>
            <a:ext cx="10921727" cy="165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Classe II devenue quasi Classe III · hyper-Classe I tenu · sans extraction, sans chirurgie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758212" y="2313525"/>
            <a:ext cx="468102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Face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4374048" y="2313525"/>
            <a:ext cx="741741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Sourire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194072" y="2313525"/>
            <a:ext cx="607005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Profil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9702557" y="2313525"/>
            <a:ext cx="1095348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Occlusales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6" name="Image 2" descr="/home/user/Carrousel-TS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10136629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10136629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67168" y="6292693"/>
            <a:ext cx="602243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16673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Quiz · la dépose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4884417"/>
            <a:ext cx="8889778" cy="1097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enlève les vis.</a:t>
            </a:r>
            <a:endParaRPr lang="en-US" sz="4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Faut-il anesthésier ?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5" name="Image 0" descr="/home/user/Carrousel-TSS/assets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13732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1013732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67863" y="6292693"/>
            <a:ext cx="60154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1476140"/>
            <a:ext cx="10870928" cy="4505411"/>
          </a:xfrm>
          <a:prstGeom prst="roundRect">
            <a:avLst>
              <a:gd name="adj" fmla="val 2819"/>
            </a:avLst>
          </a:prstGeom>
          <a:solidFill>
            <a:srgbClr val="EFE7D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La réponse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5089001" y="3624073"/>
            <a:ext cx="2064393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Vidéo — dépose des vis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7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152503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10152503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83043" y="6292693"/>
            <a:ext cx="58636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3484376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3" name="Shape 1"/>
          <p:cNvSpPr/>
          <p:nvPr/>
        </p:nvSpPr>
        <p:spPr>
          <a:xfrm>
            <a:off x="6235544" y="3484376"/>
            <a:ext cx="5295768" cy="209545"/>
          </a:xfrm>
          <a:prstGeom prst="roundRect">
            <a:avLst>
              <a:gd name="adj" fmla="val 50000"/>
            </a:avLst>
          </a:prstGeom>
          <a:solidFill>
            <a:srgbClr val="EFE7D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palais après dépose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 trou de vis au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site cicatrisé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5816455"/>
            <a:ext cx="10921727" cy="1650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Illustration sur une autre patiente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2181667" y="3484376"/>
            <a:ext cx="2304000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À la dépose — trou de vis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889678" y="3484376"/>
            <a:ext cx="2038299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Après — site cicatrisé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0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1013682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2" name="Text 9"/>
          <p:cNvSpPr/>
          <p:nvPr/>
        </p:nvSpPr>
        <p:spPr>
          <a:xfrm>
            <a:off x="1013682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67366" y="6292693"/>
            <a:ext cx="60204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84459" y="1285644"/>
            <a:ext cx="4246853" cy="4695906"/>
          </a:xfrm>
          <a:prstGeom prst="roundRect">
            <a:avLst>
              <a:gd name="adj" fmla="val 2990"/>
            </a:avLst>
          </a:prstGeom>
          <a:solidFill>
            <a:srgbClr val="EFE7D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Le vrai coût osseux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Je réponds à ceux qui auraient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extrait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2967559"/>
            <a:ext cx="6370081" cy="456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pourrait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compenser + extraire 2 prémolaires — une option légitime.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3538449"/>
            <a:ext cx="6420880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 de vis ~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mm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cicatrise sans trace.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660383" y="3881043"/>
            <a:ext cx="6420880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Alvéole de prémolaire ~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× 7 mm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une dizaine de sites de vis.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60383" y="4223637"/>
            <a:ext cx="6420880" cy="22829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Extraction ortho </a:t>
            </a:r>
            <a:pPr algn="l" indent="0" marL="0">
              <a:lnSpc>
                <a:spcPct val="124000"/>
              </a:lnSpc>
              <a:buNone/>
            </a:pPr>
            <a:r>
              <a:rPr lang="en-US" sz="145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symétrique</a:t>
            </a:r>
            <a:pPr algn="l" indent="0" marL="0">
              <a:lnSpc>
                <a:spcPct val="124000"/>
              </a:lnSpc>
              <a:buNone/>
            </a:pPr>
            <a:r>
              <a:rPr lang="en-US" sz="145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: 2 à 4 dents saines. La vis : aucune.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5591" y="3528825"/>
            <a:ext cx="3875288" cy="2095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B0A7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Démo — alvéole vs ronds de vis à l'échelle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1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13960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1013960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0144" y="6292693"/>
            <a:ext cx="59926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Tips 1/3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TAD-first — changer de plan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sans redémarrer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2941266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Appareil sur vis : on dépose l'armature, on modifie, on repose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sans toucher aux vis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357280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TAD-last, il aurait fallu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tout redéposer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3773294"/>
            <a:ext cx="10870928" cy="552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Leçon — chez l'ado dont le plan peut bouger,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TAD-first = liberté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 changer de dispositif en cours de route.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8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01308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10101308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1847" y="6292693"/>
            <a:ext cx="63756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Tips 2/3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Anticiper le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plan B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079375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Prévoir les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vérins de distalisation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dès la pose (sécurité, ne coûte rien).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495389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Sur-corriger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(hyper-Classe I) quand la compliance est incertaine.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3911403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Leçon — chez l'ado, on règle en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anticipant la non-compliance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8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48138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10148138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8677" y="6292693"/>
            <a:ext cx="59073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Tips 3/3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labo réactif change les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possibles</a:t>
            </a:r>
            <a:endParaRPr lang="en-US" sz="29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2941266"/>
            <a:ext cx="10870928" cy="552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conversion Herbst rapide n'a été possible que grâce à une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fabrication réactive et intégrée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(SmileLab).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3633597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délai rédhibitoire devient une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manœuvre de quelques jours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60383" y="4049611"/>
            <a:ext cx="10921727" cy="27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Leçon — </a:t>
            </a:r>
            <a:pPr algn="l" indent="0" marL="0">
              <a:lnSpc>
                <a:spcPct val="128000"/>
              </a:lnSpc>
              <a:buNone/>
            </a:pPr>
            <a:r>
              <a:rPr lang="en-US" sz="1700" b="1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piloter la fabrication</a:t>
            </a:r>
            <a:pPr algn="l" indent="0" marL="0">
              <a:lnSpc>
                <a:spcPct val="128000"/>
              </a:lnSpc>
              <a:buNone/>
            </a:pPr>
            <a:r>
              <a:rPr lang="en-US" sz="1700" dirty="0">
                <a:solidFill>
                  <a:srgbClr val="57534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ouvre des options cliniques.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8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13214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10113214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43753" y="6292693"/>
            <a:ext cx="625658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203795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TAD-first vs TAD-last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Changer de plan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sans redémarrer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933427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TAD-first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76838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TAD-last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3427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L'ancrage osseux </a:t>
            </a:r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d'abord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le reste s'y adapte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33427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Armature retirée sans toucher aux vis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33427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Empreinte, labo, repose : on change de cap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76838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L'ancrage </a:t>
            </a:r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 dernier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le plan est figé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76838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Changer de plan = souvent redémarrer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476838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Moins d'options quand l'imprévu survient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5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10109046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10109046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9586" y="6292693"/>
            <a:ext cx="629825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1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660383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6203795" y="1323743"/>
            <a:ext cx="5327517" cy="4657807"/>
          </a:xfrm>
          <a:prstGeom prst="roundRect">
            <a:avLst>
              <a:gd name="adj" fmla="val 2999"/>
            </a:avLst>
          </a:prstGeom>
          <a:solidFill>
            <a:srgbClr val="FFFFFF"/>
          </a:solidFill>
          <a:ln w="12700">
            <a:solidFill>
              <a:srgbClr val="E7E1D5"/>
            </a:solidFill>
            <a:prstDash val="solid"/>
          </a:ln>
          <a:effectLst>
            <a:outerShdw sx="100000" sy="100000" kx="0" ky="0" algn="bl" rotWithShape="0" blurRad="127000" dist="63500" dir="5400000">
              <a:srgbClr val="2B2926">
                <a:alpha val="1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0383" y="444489"/>
            <a:ext cx="10921727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2 · Ce que ça change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0383" y="742931"/>
            <a:ext cx="10921727" cy="390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lui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 Pour 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nous</a:t>
            </a:r>
            <a:pPr algn="l" indent="0" marL="0">
              <a:lnSpc>
                <a:spcPct val="106000"/>
              </a:lnSpc>
              <a:buNone/>
            </a:pPr>
            <a:r>
              <a:rPr lang="en-US" sz="2900" b="1" dirty="0">
                <a:solidFill>
                  <a:srgbClr val="2B2926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933427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lui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76838" y="1571387"/>
            <a:ext cx="4832229" cy="2222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A373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Pour nous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33427" y="1933328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chirurgies évitées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33427" y="231977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 garde son visage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933427" y="2706223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Respiration et sommeil corrigés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476838" y="1933328"/>
            <a:ext cx="4781430" cy="633198"/>
          </a:xfrm>
          <a:prstGeom prst="rect">
            <a:avLst/>
          </a:prstGeom>
          <a:noFill/>
          <a:ln/>
        </p:spPr>
        <p:txBody>
          <a:bodyPr wrap="squar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seul ancrage, deux plans, changement de cap sans redémarrer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76838" y="2566526"/>
            <a:ext cx="4832229" cy="386447"/>
          </a:xfrm>
          <a:prstGeom prst="rect">
            <a:avLst/>
          </a:prstGeom>
          <a:noFill/>
          <a:ln/>
        </p:spPr>
        <p:txBody>
          <a:bodyPr wrap="none" lIns="69850" tIns="0" rIns="0" bIns="0" rtlCol="0" anchor="t"/>
          <a:lstStyle/>
          <a:p>
            <a:pPr algn="l" indent="0" marL="0">
              <a:lnSpc>
                <a:spcPct val="134000"/>
              </a:lnSpc>
              <a:buNone/>
            </a:pPr>
            <a:r>
              <a:rPr lang="en-US" sz="1450" b="1" dirty="0">
                <a:solidFill>
                  <a:srgbClr val="C3A46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▪  </a:t>
            </a:r>
            <a:pPr algn="l"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2B29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clé chez l'ado dont la croissance est incertaine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DED6C8"/>
            </a:solidFill>
            <a:prstDash val="solid"/>
          </a:ln>
        </p:spPr>
      </p:sp>
      <p:pic>
        <p:nvPicPr>
          <p:cNvPr id="14" name="Image 0" descr="/home/user/Carrousel-TS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0098827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9B927F"/>
            </a:solidFill>
            <a:prstDash val="dash"/>
          </a:ln>
        </p:spPr>
      </p:sp>
      <p:sp>
        <p:nvSpPr>
          <p:cNvPr id="16" name="Text 13"/>
          <p:cNvSpPr/>
          <p:nvPr/>
        </p:nvSpPr>
        <p:spPr>
          <a:xfrm>
            <a:off x="10098827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827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29367" y="6292693"/>
            <a:ext cx="640044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2B2926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60383" y="1935908"/>
            <a:ext cx="10921727" cy="247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chute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60383" y="2348648"/>
            <a:ext cx="9524762" cy="11001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Cas 1, la vis 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ancrait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Ici, elle est 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C3A4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polyvalente</a:t>
            </a:r>
            <a:pPr algn="l" indent="0" marL="0">
              <a:lnSpc>
                <a:spcPct val="114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.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60383" y="3664652"/>
            <a:ext cx="10870928" cy="8254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même ancrage osseux, deux plans, sans redémarrer.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clé chez l'ado, Classe II comme Classe III.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660383" y="6083148"/>
            <a:ext cx="10870928" cy="0"/>
          </a:xfrm>
          <a:prstGeom prst="line">
            <a:avLst/>
          </a:prstGeom>
          <a:noFill/>
          <a:ln w="12700">
            <a:solidFill>
              <a:srgbClr val="6A655C"/>
            </a:solidFill>
            <a:prstDash val="solid"/>
          </a:ln>
        </p:spPr>
      </p:sp>
      <p:pic>
        <p:nvPicPr>
          <p:cNvPr id="6" name="Image 0" descr="/home/user/Carrousel-TSS/assets/logo-ligh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383" y="6219670"/>
            <a:ext cx="724676" cy="3936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101605" y="6216495"/>
            <a:ext cx="678143" cy="400040"/>
          </a:xfrm>
          <a:prstGeom prst="roundRect">
            <a:avLst>
              <a:gd name="adj" fmla="val 19048"/>
            </a:avLst>
          </a:prstGeom>
          <a:ln w="19050">
            <a:solidFill>
              <a:srgbClr val="8A857C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10101605" y="6216495"/>
            <a:ext cx="678143" cy="40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D8D2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ULB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32145" y="6292693"/>
            <a:ext cx="637266" cy="2476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1300">
                <a:solidFill>
                  <a:srgbClr val="FFFFFF"/>
                </a:solidFill>
                <a:latin typeface="Poppins"/>
                <a:ea typeface="Poppins"/>
                <a:cs typeface="Poppins"/>
              </a:defRPr>
            </a:lvl1pPr>
          </a:lstStyle>
          <a:p>
            <a:pPr algn="ct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686</Words>
  <Application>Microsoft Office PowerPoint</Application>
  <PresentationFormat>Grand écran</PresentationFormat>
  <Paragraphs>114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Inter</vt:lpstr>
      <vt:lpstr>Poppins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Smile Space — Cas 2 · Antoine</dc:title>
  <dc:subject>PptxGenJS Presentation</dc:subject>
  <dc:creator>PptxGenJS</dc:creator>
  <cp:lastModifiedBy>Linos Tsague</cp:lastModifiedBy>
  <cp:revision>1</cp:revision>
  <dcterms:created xsi:type="dcterms:W3CDTF">2026-09-05T21:44:07Z</dcterms:created>
  <dcterms:modified xsi:type="dcterms:W3CDTF">2026-09-06T19:53:59Z</dcterms:modified>
</cp:coreProperties>
</file>