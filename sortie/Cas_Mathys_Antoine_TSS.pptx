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[CARTON — ÉNERGIE : rassurer, socle solide + première étincelle.]
Premier patient. Un enfant en denture mixte. Le cas le plus simple en apparence — et pourtant il pose déjà toute la logique des 90 minutes. Dispositif : MARPE avec deux vis de distalisation (expansion + recul des quadrants I et II).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1 — Patient. Laisser parler les images, ne pas réciter la fiche. Poser une note humaine : c'est un enfant, on agit tôt, au bon moment.]
Mathys, denture mixte, stade A-B d'Angelieri. Motif : [le sien]. Clinique : déficit transverse, encombrement, [Classe/fonction]. Radios : pano (germes), téléradio + mesures, occlusales, CBCT.
[Émotion : ne pas dérouler une fiche — raconter un enfant, à l'âge où tout se joue.]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[Doc intra — latéral D / face / latéral G.] Occlusion, rapports transverses et sagittaux, encombrement.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[Vues occlusales — maxillaire / mandibulaire.] Forme d'arcade, déficit transverse, encombrement.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[Panoramique — denture mixte.] Germes, séquence d'éruption, bilan général.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[Téléradio + tracé + tableau.] Rapports squelettiques et dentaires ; base des mesures.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[Points 2+3 — le plan (1er point) puis LA QUESTION. Ils réfléchissent. Formulation inclusive (Hermann : ne pas paraître moralisateur).]
D'abord le plan, un seul point : MARPE + 2 vis de distalisation. On garde le pourquoi.
« Comme Arnel vient de nous le montrer, l'enjeu des vis, c'est de vaincre la résistance du maxillaire. Alors la première idée à laquelle on pourrait TOUS penser, c'est : suture ouverte, stade A-B, aucune résistance… donc pas besoin de vis. [pause] Et pourtant, on en a mis. Si on regarde de plus près… pourquoi, à votre avis ? »
[Repli sans Arnel : « On sait tous que l'intérêt premier des vis, c'est de vaincre la résistance… » — Se caler avec Arnel : sujet + ordre.]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4+5 — la science + les avantages. Cœur pédagogique, prendre le temps.]
Chez le jeune, la suture cède ; le problème c'est l'ANCRAGE — les dents de lait ne tiennent pas. La vis remplace un ancrage défaillant.
Appuis : Wilmes (dispositif pour ancrage dentaire réduit, âge moyen 11,2 ans, PMID 21490997) ; moins de bascule chez le patient en croissance (méta ≤16 ans, 10.3390/app15158326) ; protection de l'os alvéolaire (Copello, 10.1111/ocr.12374) ; distalisation sur ancrage palatin (Mohamed, 10.2319/091717-624.1).
Avantages : expansion squelettique + recul Q1/Q2 sans compensation, avant éruption des 2es molaires.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7 — tips. ÉNERGIE : creux technique, calme et précis.]
T-zone : à cet âge, ni guide ni bicortical nécessaires. 7 mm d'ancrage suffisent (à présenter comme MA pratique, pas comme un seuil sourcé). Double charge (expansion + distalisation) → stabilité primaire bicorticale critique malgré tout. Séquence : [expand puis distalise / simultané]. Vigilance : bascule distale, rotation disto-palatine, dimension verticale. Mot sur le Micro II si pertinent.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 dispositif — montrer, expliquer brièvement. La quincaillerie (marque, moteur) va dans le remis / QR, pas ici.]
Vérin central d'expansion, deux vis de distalisation pour reculer les quadrants I et II, ancrage osseux paramédian. À cet âge, 7 mm suffisent.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6 — résultats. Laisser les images prouver, parler peu.]
Avant/après : occlusales (gain transverse + recul des quadrants), profil, sourire. Évolution dans le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6 — résultats. Laisser les images prouver, parler peu.]
Avant/après : occlusales (gain transverse + recul des quadrants), profil, sourire. Évolution dans le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7 — tips. ÉNERGIE : creux technique, calme et précis.]
T-zone : à cet âge, ni guide ni bicortical nécessaires. 7 mm d'ancrage suffisent (à présenter comme MA pratique, pas comme un seuil sourcé). Double charge (expansion + distalisation) → stabilité primaire bicorticale critique malgré tout. Séquence : [expand puis distalise / simultané]. Vigilance : bascule distale, rotation disto-palatine, dimension verticale. Mot sur le Micro II si pertinent.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 vidéo de pose — codes du démonstrateur (le vendeur de presse-jus) : TEMPO du geste, dédramatiser, PAS de vente. Muette, je commente en direct. Clip propre, court.]
NARRATION (par-dessus la vidéo) :
« On commence par endormir la surface. Puis quelques gouttes sur chaque site — quelques gouttes suffisent, on endort le périoste, pas l'os. On pose la vis. Le seul piège : on n'oriente pas perpendiculairement au plan sagittal — mais perpendiculairement à l'os qu'on aborde. La vis sur le tournevis, torque sur 35. Et là… pas de forcing — on ne pousse pas comme un malade, on visse. On avance… et on s'arrête net quand la tête touche la gencive. Un scan, têtes de vis nues, direction le labo. »
[Puis, si dispo : témoignage patient « je n'ai rien senti ».]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 vidéo de pose — codes du démonstrateur (le vendeur de presse-jus) : TEMPO du geste, dédramatiser, PAS de vente. Muette, je commente en direct. Clip propre, court.]
NARRATION (par-dessus la vidéo) :
« On commence par endormir la surface. Puis quelques gouttes sur chaque site — quelques gouttes suffisent, on endort le périoste, pas l'os. On pose la vis. Le seul piège : on n'oriente pas perpendiculairement au plan sagittal — mais perpendiculairement à l'os qu'on aborde. La vis sur le tournevis, torque sur 35. Et là… pas de forcing — on ne pousse pas comme un malade, on visse. On avance… et on s'arrête net quand la tête touche la gencive. Un scan, têtes de vis nues, direction le labo. »
[Puis, si dispo : témoignage patient « je n'ai rien senti ».]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[Interaction 2 — ils votent à main levée. Rappel de la leçon + le point T-zone.]
« Pour expandre ce palais à 12 ans, l'ancrage bicortical est-il indispensable ? » [vote]
RÉVÉLATION : « Non. La résistance est quasi nulle — la vis ancre, elle ne force pas. Et il y a mieux : à cet âge, si on est dans la T-zone, on n'a même pas besoin de guide ni d'ancrage bicortical. 7 mm suffisent. À 16 ans, là, on ira volontiers chercher le bicortical — mais ça, c'est le cas suivant… » [pont vers Antoine]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8 — LA distinction qu'Hermann trouvait floue. La marquer nettement, lentement, avec une pause entre les deux colonnes. Côté patient = émotion (sa vie) ; côté ortho = clinique (ta pratique).]
« Pour lui, dans sa vie : traité au bon moment, une phase en moins, il aborde son adolescence avec une bouche fonctionnelle, il respire et dort mieux. [temps] Pour nous : un ancrage fiable même quand la denture ne suit pas, un geste simple, reproductible — et on repense la fenêtre d'intervention de toute une génération.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 CHUTE — marquer une coupure de voix avant (« Et si je devais résumer tout ça en une phrase… »), plus posée, plus large. Lance le cas suivant.]
« Chez l'adulte, la vis vainc l'os. Chez l'enfant, elle ne vainc rien : elle ANCRE. Même outil, deux missions. Et c'est toute l'histoire des quatre-vingt-dix minutes qui viennent.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Deuxième patient. Antoine, 15 ans et demi. On monte d'un cran : ici, quelque chose commence à changer. (Énergie : intrigué)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motif, l'histoire d'Antoine, les 3 avis reçus. Raconter, pas décrire.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[Doc intra — latéral D / face / latéral G.] Classe II, rapports transverses.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[Vues occlusales — maxillaire / mandibulaire.] Forme d'arcade, déficit transverse.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[Panoramique.] Bilan général, dents de sagesse.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Classe II squelettique, profil convexe, croissance quasi finie.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Quasi certain de corriger le transversal sans chirurgie à son âge ; dit à la maman avec la réserve d'usage, mais j'y crois.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la salle se positionner avant de révéler. Rappel : CVS 3-4, presque 16 ans, Classe II, sommeil, 3 confrères → 2 chirurgies, la maman →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MARPE au sens large, appuis dentaires inclus (Moon, Pereira-Varella) ; vérins de distalisation et effet Classe II anticipés EN SÉCURITÉ, au cas où elle refuserait la 2e chirurgie.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 On se remet 5 ans en arrière. Pour moi, c'était une dinguerie. » (1er sommet, marquer un temps)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mm gagnés par le relâchement articulaire + 2 mm possibles par les vérins + un shift d'arcade → « je suis bon » ; mais très tard dans la croissance, déposer pour multibague + Forsus serait trop 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 Mon plan tient, je m'en sors sans extraction ni chirurgie.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pivot est enclenché, la mandibule avance.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ans, la copine, l'appareil pas pratique pour les bisous → il veut qu'on l'enlève → il réclame la chirurgie pour ça. Mais l'appareil est VISSÉ, il ne peut pas l'enlever seul ; et vu le retard de croissance, je l'avais réglé direct en HYPER-Classe I (le coup d'avance).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Sans extraction, sans chirurgie ; les 6 mois → 3 mois, la maman qui craque. Hyper-Classe I tenu, Classe II → quasi Classe III.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réagir la salle avant la vidéo.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dépose en vidéo — dédramatiser.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trou de vis cicatrise sans trace. Illustration sur une autre patiente.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caricaturer l'extraction : c'est une option légitime. Mais le coût osseux n'est pas le même.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sobrement.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Armature retirée sans toucher aux vis → empreinte → labo → repose ; c'est le TAD-first qui rend ça possible ; les vérins n'ont jamais servi.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lentement, avec une pause entre les deux colonnes.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Coupure de voix avant ; fait le pont avec Mathys.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2145" y="6292693"/>
            <a:ext cx="63726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2145" y="6292693"/>
            <a:ext cx="63726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image" Target="../media/image-20-3.jpg"/><Relationship Id="rId4" Type="http://schemas.openxmlformats.org/officeDocument/2006/relationships/image" Target="../media/image-20-4.jp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image" Target="../media/image-21-3.jp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jp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1699178"/>
            <a:ext cx="6908627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Smile Space · Cas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2086518"/>
            <a:ext cx="6908627" cy="933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Mathys</a:t>
            </a:r>
            <a:endParaRPr lang="en-US" sz="75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3185041"/>
            <a:ext cx="6908627" cy="34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Denture mixte · 12,5 ans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3635879"/>
            <a:ext cx="6908627" cy="284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Motif de consultation —</a:t>
            </a:r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Encombrement dentaire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4047329"/>
            <a:ext cx="69086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Angelieri A-B · déficit transverse · encombrement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60383" y="4434670"/>
            <a:ext cx="6908627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Même outil, deux missions »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9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27811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27811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pic>
        <p:nvPicPr>
          <p:cNvPr id="12" name="Image 1" descr="/home/user/Carrousel-TSS/assets/carrousels/mathys/exo/face_sourire_cuto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93" y="1104872"/>
            <a:ext cx="3744323" cy="4800480"/>
          </a:xfrm>
          <a:prstGeom prst="rect">
            <a:avLst/>
          </a:prstGeom>
          <a:effectLst>
            <a:outerShdw sx="100000" sy="100000" kx="0" ky="0" algn="bl" rotWithShape="0" blurRad="177800" dist="76200" dir="5400000">
              <a:srgbClr val="000000">
                <a:alpha val="4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8650" y="6292693"/>
            <a:ext cx="460760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photos/02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/photos/02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739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4" name="Image 2" descr="/home/user/Carrousel-TSS/deck/out/photos/02_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095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5" name="Image 3" descr="/home/user/Carrousel-TSS/deck/out/photos/02_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6451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6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Documentation</a:t>
            </a:r>
            <a:endParaRPr lang="en-US" sz="1200" dirty="0"/>
          </a:p>
        </p:txBody>
      </p:sp>
      <p:sp>
        <p:nvSpPr>
          <p:cNvPr id="7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8" name="Image 4" descr="/home/user/Carrousel-TS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10243088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0" name="Text 3"/>
          <p:cNvSpPr/>
          <p:nvPr/>
        </p:nvSpPr>
        <p:spPr>
          <a:xfrm>
            <a:off x="10243088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3627" y="6292693"/>
            <a:ext cx="495784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photos/03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2190695"/>
            <a:ext cx="3479713" cy="2609785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/photos/03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91" y="2190695"/>
            <a:ext cx="3479713" cy="2609785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4" name="Image 2" descr="/home/user/Carrousel-TSS/deck/out/photos/03_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599" y="2190695"/>
            <a:ext cx="3479713" cy="2609785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5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Documentation</a:t>
            </a:r>
            <a:endParaRPr lang="en-US" sz="1200" dirty="0"/>
          </a:p>
        </p:txBody>
      </p:sp>
      <p:sp>
        <p:nvSpPr>
          <p:cNvPr id="6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7" name="Image 3" descr="/home/user/Carrousel-TSS/assets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10239020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9" name="Text 3"/>
          <p:cNvSpPr/>
          <p:nvPr/>
        </p:nvSpPr>
        <p:spPr>
          <a:xfrm>
            <a:off x="10239020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9559" y="6292693"/>
            <a:ext cx="499852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photos/04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509675"/>
            <a:ext cx="5295768" cy="39718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/photos/04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544" y="1509675"/>
            <a:ext cx="5295768" cy="39718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4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Documentation</a:t>
            </a:r>
            <a:endParaRPr lang="en-US" sz="1200" dirty="0"/>
          </a:p>
        </p:txBody>
      </p:sp>
      <p:sp>
        <p:nvSpPr>
          <p:cNvPr id="5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6" name="Image 2" descr="/home/user/Carrousel-TS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22880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8" name="Text 3"/>
          <p:cNvSpPr/>
          <p:nvPr/>
        </p:nvSpPr>
        <p:spPr>
          <a:xfrm>
            <a:off x="1022880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59340" y="6292693"/>
            <a:ext cx="510071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photos/05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212604"/>
            <a:ext cx="10870928" cy="4565968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Documentation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5" name="Image 1" descr="/home/user/Carrousel-TS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231579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7" name="Text 3"/>
          <p:cNvSpPr/>
          <p:nvPr/>
        </p:nvSpPr>
        <p:spPr>
          <a:xfrm>
            <a:off x="10231579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2118" y="6292693"/>
            <a:ext cx="507293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photos/06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47" y="1009625"/>
            <a:ext cx="3977541" cy="49719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/photos/06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442" y="1009625"/>
            <a:ext cx="4143271" cy="49719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4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Documentation</a:t>
            </a:r>
            <a:endParaRPr lang="en-US" sz="1200" dirty="0"/>
          </a:p>
        </p:txBody>
      </p:sp>
      <p:sp>
        <p:nvSpPr>
          <p:cNvPr id="5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6" name="Image 2" descr="/home/user/Carrousel-TS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232174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8" name="Text 3"/>
          <p:cNvSpPr/>
          <p:nvPr/>
        </p:nvSpPr>
        <p:spPr>
          <a:xfrm>
            <a:off x="10232174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2713" y="6292693"/>
            <a:ext cx="506697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444489"/>
            <a:ext cx="150788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Participation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3719320"/>
            <a:ext cx="8889778" cy="1645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Suture ouverte. Stade A-B. Aucune résistance.</a:t>
            </a:r>
            <a:endParaRPr lang="en-US" sz="4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Et pourtant, des vis.</a:t>
            </a:r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Pourquoi 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60383" y="5403120"/>
            <a:ext cx="38099" cy="578431"/>
          </a:xfrm>
          <a:prstGeom prst="rect">
            <a:avLst/>
          </a:prstGeom>
          <a:solidFill>
            <a:srgbClr val="C3A4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0383" y="5403120"/>
            <a:ext cx="6984825" cy="578431"/>
          </a:xfrm>
          <a:prstGeom prst="rect">
            <a:avLst/>
          </a:prstGeom>
          <a:noFill/>
          <a:ln/>
        </p:spPr>
        <p:txBody>
          <a:bodyPr wrap="square" lIns="0" tIns="21590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« La première idée à laquelle on pourrait tous penser : pas de résistance, donc pas besoin de vis… »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7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247453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10247453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7993" y="6292693"/>
            <a:ext cx="491418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2499952"/>
            <a:ext cx="3496580" cy="1873501"/>
          </a:xfrm>
          <a:prstGeom prst="roundRect">
            <a:avLst>
              <a:gd name="adj" fmla="val 7456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347458" y="2499952"/>
            <a:ext cx="3496679" cy="1873501"/>
          </a:xfrm>
          <a:prstGeom prst="roundRect">
            <a:avLst>
              <a:gd name="adj" fmla="val 7456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34633" y="2499952"/>
            <a:ext cx="3496679" cy="1640343"/>
          </a:xfrm>
          <a:prstGeom prst="roundRect">
            <a:avLst>
              <a:gd name="adj" fmla="val 8516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5328" y="2747596"/>
            <a:ext cx="419090" cy="419090"/>
          </a:xfrm>
          <a:prstGeom prst="roundRect">
            <a:avLst>
              <a:gd name="adj" fmla="val 24242"/>
            </a:avLst>
          </a:prstGeom>
          <a:solidFill>
            <a:srgbClr val="3A3733"/>
          </a:solidFill>
          <a:ln/>
        </p:spPr>
      </p:sp>
      <p:sp>
        <p:nvSpPr>
          <p:cNvPr id="6" name="Shape 4"/>
          <p:cNvSpPr/>
          <p:nvPr/>
        </p:nvSpPr>
        <p:spPr>
          <a:xfrm>
            <a:off x="4582403" y="2747596"/>
            <a:ext cx="419090" cy="419090"/>
          </a:xfrm>
          <a:prstGeom prst="roundRect">
            <a:avLst>
              <a:gd name="adj" fmla="val 24242"/>
            </a:avLst>
          </a:prstGeom>
          <a:solidFill>
            <a:srgbClr val="3A3733"/>
          </a:solidFill>
          <a:ln/>
        </p:spPr>
      </p:sp>
      <p:sp>
        <p:nvSpPr>
          <p:cNvPr id="7" name="Shape 5"/>
          <p:cNvSpPr/>
          <p:nvPr/>
        </p:nvSpPr>
        <p:spPr>
          <a:xfrm>
            <a:off x="8269577" y="2747596"/>
            <a:ext cx="419090" cy="419090"/>
          </a:xfrm>
          <a:prstGeom prst="roundRect">
            <a:avLst>
              <a:gd name="adj" fmla="val 24242"/>
            </a:avLst>
          </a:prstGeom>
          <a:solidFill>
            <a:srgbClr val="3A3733"/>
          </a:solidFill>
          <a:ln/>
        </p:spPr>
      </p:sp>
      <p:sp>
        <p:nvSpPr>
          <p:cNvPr id="8" name="Shape 6"/>
          <p:cNvSpPr/>
          <p:nvPr/>
        </p:nvSpPr>
        <p:spPr>
          <a:xfrm>
            <a:off x="660383" y="5689458"/>
            <a:ext cx="2275624" cy="292093"/>
          </a:xfrm>
          <a:prstGeom prst="roundRect">
            <a:avLst>
              <a:gd name="adj" fmla="val 50000"/>
            </a:avLst>
          </a:prstGeom>
          <a:solidFill>
            <a:srgbClr val="F0EBE1"/>
          </a:solidFill>
          <a:ln w="12700">
            <a:solidFill>
              <a:srgbClr val="E1D9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24906" y="5689458"/>
            <a:ext cx="2736087" cy="292093"/>
          </a:xfrm>
          <a:prstGeom prst="roundRect">
            <a:avLst>
              <a:gd name="adj" fmla="val 50000"/>
            </a:avLst>
          </a:prstGeom>
          <a:solidFill>
            <a:srgbClr val="F0EBE1"/>
          </a:solidFill>
          <a:ln w="12700">
            <a:solidFill>
              <a:srgbClr val="E1D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49890" y="5689458"/>
            <a:ext cx="2347953" cy="292093"/>
          </a:xfrm>
          <a:prstGeom prst="roundRect">
            <a:avLst>
              <a:gd name="adj" fmla="val 50000"/>
            </a:avLst>
          </a:prstGeom>
          <a:solidFill>
            <a:srgbClr val="F0EBE1"/>
          </a:solidFill>
          <a:ln w="12700">
            <a:solidFill>
              <a:srgbClr val="E1D9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86741" y="5689458"/>
            <a:ext cx="2799585" cy="292093"/>
          </a:xfrm>
          <a:prstGeom prst="roundRect">
            <a:avLst>
              <a:gd name="adj" fmla="val 50000"/>
            </a:avLst>
          </a:prstGeom>
          <a:solidFill>
            <a:srgbClr val="F0EBE1"/>
          </a:solidFill>
          <a:ln w="12700">
            <a:solidFill>
              <a:srgbClr val="E1D9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La réponse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Ancrage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vs résistance.</a:t>
            </a:r>
            <a:endParaRPr lang="en-US" sz="2900" dirty="0"/>
          </a:p>
        </p:txBody>
      </p:sp>
      <p:sp>
        <p:nvSpPr>
          <p:cNvPr id="14" name="Text 12"/>
          <p:cNvSpPr txBox="1"/>
          <p:nvPr/>
        </p:nvSpPr>
        <p:spPr>
          <a:xfrm>
            <a:off x="895328" y="3331782"/>
            <a:ext cx="3077490" cy="238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5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suture cède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4582403" y="3331782"/>
            <a:ext cx="3077589" cy="238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5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vrai problème : l'ancrage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8269577" y="3331782"/>
            <a:ext cx="3077589" cy="238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5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vis ne force pas l'os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895328" y="3659493"/>
            <a:ext cx="3026692" cy="466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3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cet âge elle est ouverte — elle ne résiste pas.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82403" y="3659493"/>
            <a:ext cx="3026791" cy="466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3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dents de lait ne tiennent pas les forces.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269577" y="3659493"/>
            <a:ext cx="3077589" cy="23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3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Elle remplace un ancrage défaillant.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95328" y="2747596"/>
            <a:ext cx="419090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582403" y="2747596"/>
            <a:ext cx="419090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69577" y="2747596"/>
            <a:ext cx="419090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60383" y="5689458"/>
            <a:ext cx="2275624" cy="292093"/>
          </a:xfrm>
          <a:prstGeom prst="rect">
            <a:avLst/>
          </a:prstGeom>
          <a:noFill/>
          <a:ln/>
        </p:spPr>
        <p:txBody>
          <a:bodyPr wrap="square" lIns="57150" tIns="127000" rIns="1270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Wilmes 2010 · PMID 21490997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024906" y="5689458"/>
            <a:ext cx="2736087" cy="292093"/>
          </a:xfrm>
          <a:prstGeom prst="rect">
            <a:avLst/>
          </a:prstGeom>
          <a:noFill/>
          <a:ln/>
        </p:spPr>
        <p:txBody>
          <a:bodyPr wrap="square" lIns="57150" tIns="127000" rIns="1270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Méta ≤16 ans · 10.3390/app15158326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849890" y="5689458"/>
            <a:ext cx="2347953" cy="292093"/>
          </a:xfrm>
          <a:prstGeom prst="rect">
            <a:avLst/>
          </a:prstGeom>
          <a:noFill/>
          <a:ln/>
        </p:spPr>
        <p:txBody>
          <a:bodyPr wrap="square" lIns="57150" tIns="127000" rIns="1270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Copello 2020 · 10.1111/ocr.12374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86741" y="5689458"/>
            <a:ext cx="2799585" cy="292093"/>
          </a:xfrm>
          <a:prstGeom prst="rect">
            <a:avLst/>
          </a:prstGeom>
          <a:noFill/>
          <a:ln/>
        </p:spPr>
        <p:txBody>
          <a:bodyPr wrap="square" lIns="57150" tIns="127000" rIns="1270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Mohamed 2018 · 10.2319/091717-624.1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28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10231678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30" name="Text 27"/>
          <p:cNvSpPr/>
          <p:nvPr/>
        </p:nvSpPr>
        <p:spPr>
          <a:xfrm>
            <a:off x="10231678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2217" y="6292693"/>
            <a:ext cx="507194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photos/09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4775081"/>
            <a:ext cx="1206470" cy="1206470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Sites d'insertion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12 ans :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mm suffisent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660383" y="1298344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T-zone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ni guide, ni ancrage bicortical indispensables à cet âge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2057349" y="5165001"/>
            <a:ext cx="3699675" cy="42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Tarraf &amp; Wilmes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A65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Semin Orthod 2024 — CC BY 4.0,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A65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avec l'aimable autorisation du Pr Wilmes.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8" name="Image 1" descr="/home/user/Carrousel-TS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234555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0" name="Text 6"/>
          <p:cNvSpPr/>
          <p:nvPr/>
        </p:nvSpPr>
        <p:spPr>
          <a:xfrm>
            <a:off x="10234555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5094" y="6292693"/>
            <a:ext cx="50431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67293" y="3912494"/>
            <a:ext cx="6264019" cy="825479"/>
          </a:xfrm>
          <a:prstGeom prst="roundRect">
            <a:avLst>
              <a:gd name="adj" fmla="val 13846"/>
            </a:avLst>
          </a:prstGeom>
          <a:solidFill>
            <a:srgbClr val="3A3733"/>
          </a:solidFill>
          <a:ln/>
        </p:spPr>
      </p:sp>
      <p:sp>
        <p:nvSpPr>
          <p:cNvPr id="3" name="Shape 1"/>
          <p:cNvSpPr/>
          <p:nvPr/>
        </p:nvSpPr>
        <p:spPr>
          <a:xfrm>
            <a:off x="660383" y="1323743"/>
            <a:ext cx="4352915" cy="4657807"/>
          </a:xfrm>
          <a:prstGeom prst="roundRect">
            <a:avLst>
              <a:gd name="adj" fmla="val 2918"/>
            </a:avLst>
          </a:prstGeom>
          <a:solidFill>
            <a:srgbClr val="EFE7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Le dispositif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MARPE + 2 vérins de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distalisation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267293" y="2719617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Vérin central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expansion transverse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267293" y="3062211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vérins de distalisation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recul des quadrants I &amp; II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267293" y="3404805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Ancrage osseux paramédian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en arrière des incisives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267293" y="3912494"/>
            <a:ext cx="6264019" cy="825479"/>
          </a:xfrm>
          <a:prstGeom prst="rect">
            <a:avLst/>
          </a:prstGeom>
          <a:noFill/>
          <a:ln/>
        </p:spPr>
        <p:txBody>
          <a:bodyPr wrap="square" lIns="165100" tIns="215900" rIns="21590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cet âge —</a:t>
            </a:r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 mm d'ancrage osseux suffisent (faible résistance suturale).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707810" y="3547875"/>
            <a:ext cx="2308862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 — MARPE + 2 vérins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2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171454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10171454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1993" y="6292693"/>
            <a:ext cx="567418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476140"/>
            <a:ext cx="5295768" cy="4505411"/>
          </a:xfrm>
          <a:prstGeom prst="roundRect">
            <a:avLst>
              <a:gd name="adj" fmla="val 2819"/>
            </a:avLst>
          </a:prstGeom>
          <a:solidFill>
            <a:srgbClr val="EFE7DC"/>
          </a:solidFill>
          <a:ln/>
        </p:spPr>
      </p:sp>
      <p:sp>
        <p:nvSpPr>
          <p:cNvPr id="3" name="Shape 1"/>
          <p:cNvSpPr/>
          <p:nvPr/>
        </p:nvSpPr>
        <p:spPr>
          <a:xfrm>
            <a:off x="6235544" y="1476140"/>
            <a:ext cx="5295768" cy="4505411"/>
          </a:xfrm>
          <a:prstGeom prst="roundRect">
            <a:avLst>
              <a:gd name="adj" fmla="val 2819"/>
            </a:avLst>
          </a:prstGeom>
          <a:solidFill>
            <a:srgbClr val="EFE7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Evolution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Occlusal — avant /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après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3025501" y="3624073"/>
            <a:ext cx="616232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27152" y="3624073"/>
            <a:ext cx="56335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APRÈS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9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218383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218383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922" y="6292693"/>
            <a:ext cx="520489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476140"/>
            <a:ext cx="5295768" cy="4505411"/>
          </a:xfrm>
          <a:prstGeom prst="roundRect">
            <a:avLst>
              <a:gd name="adj" fmla="val 2819"/>
            </a:avLst>
          </a:prstGeom>
          <a:solidFill>
            <a:srgbClr val="EFE7DC"/>
          </a:solidFill>
          <a:ln/>
        </p:spPr>
      </p:sp>
      <p:sp>
        <p:nvSpPr>
          <p:cNvPr id="3" name="Shape 1"/>
          <p:cNvSpPr/>
          <p:nvPr/>
        </p:nvSpPr>
        <p:spPr>
          <a:xfrm>
            <a:off x="6235544" y="1476140"/>
            <a:ext cx="5295768" cy="4505411"/>
          </a:xfrm>
          <a:prstGeom prst="roundRect">
            <a:avLst>
              <a:gd name="adj" fmla="val 2819"/>
            </a:avLst>
          </a:prstGeom>
          <a:solidFill>
            <a:srgbClr val="EFE7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Evolution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Profil &amp; sourire — avant /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après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3025501" y="3624073"/>
            <a:ext cx="616232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27152" y="3624073"/>
            <a:ext cx="56335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APRÈS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9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183359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183359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3899" y="6292693"/>
            <a:ext cx="555512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Conseils &amp; protocole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12 ans :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mm suffisent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5816455"/>
            <a:ext cx="10921727" cy="165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7 mm, dans ma pratique » — expérience clinique, pas un seuil publié.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2731722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T-zone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ni guide ni bicortical nécessaires à cet âge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3147735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mm d'ancrage osseux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faible résistance suturale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60383" y="3563749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Double charge (expansion + distalisation)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stabilité primaire critique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60383" y="3979763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Vigilance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bascule · rotation disto-palatine · dimension verticale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0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179192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10179192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9732" y="6292693"/>
            <a:ext cx="559679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75896" y="1323743"/>
            <a:ext cx="4555416" cy="4657807"/>
          </a:xfrm>
          <a:prstGeom prst="roundRect">
            <a:avLst>
              <a:gd name="adj" fmla="val 3067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60383" y="1323743"/>
            <a:ext cx="6163116" cy="4657807"/>
          </a:xfrm>
          <a:prstGeom prst="roundRect">
            <a:avLst>
              <a:gd name="adj" fmla="val 2727"/>
            </a:avLst>
          </a:prstGeom>
          <a:solidFill>
            <a:srgbClr val="EFE7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Vidéo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pose, en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trente secondes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7248939" y="1571387"/>
            <a:ext cx="4060128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tempo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48939" y="1933328"/>
            <a:ext cx="4060128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repère.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248939" y="2319776"/>
            <a:ext cx="4009329" cy="633198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quart de tour, deux, trois… la </a:t>
            </a:r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stabilité primaire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248939" y="2952974"/>
            <a:ext cx="4009329" cy="633198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 de forcing — on s'arrête quand la tête touche la gencive.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2837585" y="3547875"/>
            <a:ext cx="1859412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Vidéo — pose des vis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2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168973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10168973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9513" y="6292693"/>
            <a:ext cx="569898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476140"/>
            <a:ext cx="10870928" cy="4505411"/>
          </a:xfrm>
          <a:prstGeom prst="roundRect">
            <a:avLst>
              <a:gd name="adj" fmla="val 2819"/>
            </a:avLst>
          </a:prstGeom>
          <a:solidFill>
            <a:srgbClr val="EFE7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Vidéo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L'appareil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bouche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4502137" y="3624073"/>
            <a:ext cx="3238221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Vidéo / photo — appareil en bouche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7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17175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1017175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291" y="6292693"/>
            <a:ext cx="567120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5530712"/>
            <a:ext cx="1630322" cy="450839"/>
          </a:xfrm>
          <a:prstGeom prst="roundRect">
            <a:avLst>
              <a:gd name="adj" fmla="val 19718"/>
            </a:avLst>
          </a:prstGeom>
          <a:solidFill>
            <a:srgbClr val="C3A4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0383" y="444489"/>
            <a:ext cx="150788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Participation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4217684"/>
            <a:ext cx="8889778" cy="109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L'ancrage bicortical —</a:t>
            </a:r>
            <a:endParaRPr lang="en-US" sz="4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indispensable à 12 ans ?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5530712"/>
            <a:ext cx="1630322" cy="450839"/>
          </a:xfrm>
          <a:prstGeom prst="rect">
            <a:avLst/>
          </a:prstGeom>
          <a:noFill/>
          <a:ln/>
        </p:spPr>
        <p:txBody>
          <a:bodyPr wrap="square" lIns="101600" tIns="203200" rIns="2032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main levée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7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172446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10172446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85" y="6292693"/>
            <a:ext cx="56642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323743"/>
            <a:ext cx="5327517" cy="4657807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203795" y="1323743"/>
            <a:ext cx="5327517" cy="4657807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Ce que ça change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lui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Pour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nous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933427" y="1571387"/>
            <a:ext cx="483222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le patient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76838" y="1571387"/>
            <a:ext cx="483222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l'orthodontiste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33427" y="1933328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Traité </a:t>
            </a:r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bon moment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sans compensation dentaire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33427" y="2319776"/>
            <a:ext cx="4781430" cy="633198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aborde l'adolescence avec une bouche fonctionnelle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33427" y="2952974"/>
            <a:ext cx="4781430" cy="633198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respire et dort mieux — au moment où le regard des autres compte le plus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76838" y="1933328"/>
            <a:ext cx="4781430" cy="633198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ancrage fiable même quand la denture ne suit pas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76838" y="2566526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geste simple : 7 mm, T-zone, pas de guide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76838" y="2952974"/>
            <a:ext cx="4781430" cy="633198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Reproductible — on repense la fenêtre d'intervention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5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0187626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10187626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165" y="6292693"/>
            <a:ext cx="55124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2142278"/>
            <a:ext cx="10921727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leçon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2555017"/>
            <a:ext cx="9524762" cy="110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Chez l'adulte, la vis 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vainc l'os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8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Chez l'enfant, elle 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ancre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3871022"/>
            <a:ext cx="10921727" cy="41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Même outil, deux missions.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6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171950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10171950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489" y="6292693"/>
            <a:ext cx="566922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1699178"/>
            <a:ext cx="6908627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Smile Space · Cas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2086518"/>
            <a:ext cx="6908627" cy="933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Antoine</a:t>
            </a:r>
            <a:endParaRPr lang="en-US" sz="75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3185041"/>
            <a:ext cx="6908627" cy="34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14-18 ans · 15,5 ans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3635879"/>
            <a:ext cx="6908627" cy="284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Motif —</a:t>
            </a:r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dents pas droites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4047329"/>
            <a:ext cx="69086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Classe II · déficit transverse · troubles du sommeil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60383" y="4434670"/>
            <a:ext cx="6908627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Les vis polyvalentes »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9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242988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242988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pic>
        <p:nvPicPr>
          <p:cNvPr id="12" name="Image 1" descr="/home/user/Carrousel-TSS/assets/carrousels/antoine/exo/face_sourire_cuto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298" y="1104872"/>
            <a:ext cx="3744918" cy="4800480"/>
          </a:xfrm>
          <a:prstGeom prst="rect">
            <a:avLst/>
          </a:prstGeom>
          <a:effectLst>
            <a:outerShdw sx="100000" sy="100000" kx="0" ky="0" algn="bl" rotWithShape="0" blurRad="177800" dist="76200" dir="5400000">
              <a:srgbClr val="000000">
                <a:alpha val="4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3528" y="6292693"/>
            <a:ext cx="495883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_antoine/photos/02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_antoine/photos/02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739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4" name="Image 2" descr="/home/user/Carrousel-TSS/deck/out_antoine/photos/02_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095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5" name="Image 3" descr="/home/user/Carrousel-TSS/deck/out_antoine/photos/02_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6451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6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Documentation</a:t>
            </a:r>
            <a:endParaRPr lang="en-US" sz="1200" dirty="0"/>
          </a:p>
        </p:txBody>
      </p:sp>
      <p:sp>
        <p:nvSpPr>
          <p:cNvPr id="7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8" name="Image 4" descr="/home/user/Carrousel-TS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10207965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0" name="Text 3"/>
          <p:cNvSpPr/>
          <p:nvPr/>
        </p:nvSpPr>
        <p:spPr>
          <a:xfrm>
            <a:off x="10207965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38504" y="6292693"/>
            <a:ext cx="53090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_antoine/photos/03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2190695"/>
            <a:ext cx="3479713" cy="2609785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_antoine/photos/03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91" y="2190695"/>
            <a:ext cx="3479713" cy="2609785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4" name="Image 2" descr="/home/user/Carrousel-TSS/deck/out_antoine/photos/03_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599" y="2190695"/>
            <a:ext cx="3479713" cy="2609785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5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Documentation</a:t>
            </a:r>
            <a:endParaRPr lang="en-US" sz="1200" dirty="0"/>
          </a:p>
        </p:txBody>
      </p:sp>
      <p:sp>
        <p:nvSpPr>
          <p:cNvPr id="6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7" name="Image 3" descr="/home/user/Carrousel-TSS/assets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10203798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9" name="Text 3"/>
          <p:cNvSpPr/>
          <p:nvPr/>
        </p:nvSpPr>
        <p:spPr>
          <a:xfrm>
            <a:off x="10203798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34337" y="6292693"/>
            <a:ext cx="535073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_antoine/photos/04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509675"/>
            <a:ext cx="5295768" cy="39718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_antoine/photos/04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544" y="1509675"/>
            <a:ext cx="5295768" cy="39718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4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Documentation</a:t>
            </a:r>
            <a:endParaRPr lang="en-US" sz="1200" dirty="0"/>
          </a:p>
        </p:txBody>
      </p:sp>
      <p:sp>
        <p:nvSpPr>
          <p:cNvPr id="5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6" name="Image 2" descr="/home/user/Carrousel-TS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193579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8" name="Text 3"/>
          <p:cNvSpPr/>
          <p:nvPr/>
        </p:nvSpPr>
        <p:spPr>
          <a:xfrm>
            <a:off x="10193579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4118" y="6292693"/>
            <a:ext cx="545293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_antoine/photos/05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196045"/>
            <a:ext cx="10870928" cy="4599085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Documentation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5" name="Image 1" descr="/home/user/Carrousel-TS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196357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7" name="Text 3"/>
          <p:cNvSpPr/>
          <p:nvPr/>
        </p:nvSpPr>
        <p:spPr>
          <a:xfrm>
            <a:off x="10196357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6896" y="6292693"/>
            <a:ext cx="542515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_antoine/photos/06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4235" y="1269175"/>
            <a:ext cx="3720764" cy="471237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_antoine/photos/06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925" y="1269175"/>
            <a:ext cx="3844307" cy="471237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4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Documentation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660383" y="704832"/>
            <a:ext cx="7670608" cy="272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6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Maturation vertébrale — CVS 3-4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7" name="Image 2" descr="/home/user/Carrousel-TS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19705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9" name="Text 4"/>
          <p:cNvSpPr/>
          <p:nvPr/>
        </p:nvSpPr>
        <p:spPr>
          <a:xfrm>
            <a:off x="1019705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7591" y="6292693"/>
            <a:ext cx="541820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444489"/>
            <a:ext cx="782320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4267887"/>
            <a:ext cx="8889778" cy="109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</a:t>
            </a:r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chirurgies</a:t>
            </a:r>
            <a:endParaRPr lang="en-US" sz="4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</a:t>
            </a:r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seule</a:t>
            </a:r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60383" y="5403120"/>
            <a:ext cx="38099" cy="578431"/>
          </a:xfrm>
          <a:prstGeom prst="rect">
            <a:avLst/>
          </a:prstGeom>
          <a:solidFill>
            <a:srgbClr val="C3A4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0383" y="5403120"/>
            <a:ext cx="6984825" cy="578431"/>
          </a:xfrm>
          <a:prstGeom prst="rect">
            <a:avLst/>
          </a:prstGeom>
          <a:noFill/>
          <a:ln/>
        </p:spPr>
        <p:txBody>
          <a:bodyPr wrap="square" lIns="0" tIns="21590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Corriger le transversal sans chirurgie à son âge — je le dis à la maman avec la réserve d'usage, mais j'y crois.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7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21223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1021223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2771" y="6292693"/>
            <a:ext cx="526640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4948709"/>
            <a:ext cx="3996431" cy="450839"/>
          </a:xfrm>
          <a:prstGeom prst="roundRect">
            <a:avLst>
              <a:gd name="adj" fmla="val 19718"/>
            </a:avLst>
          </a:prstGeom>
          <a:solidFill>
            <a:srgbClr val="C3A4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0383" y="444489"/>
            <a:ext cx="2726165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question · à main levée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3964881"/>
            <a:ext cx="8889778" cy="76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 aurait posé l'indication de </a:t>
            </a:r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deux extractions de prémolaires</a:t>
            </a:r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? Et qui ne l'aurait pas fait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60383" y="5539244"/>
            <a:ext cx="38099" cy="442306"/>
          </a:xfrm>
          <a:prstGeom prst="rect">
            <a:avLst/>
          </a:prstGeom>
          <a:solidFill>
            <a:srgbClr val="C3A4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0383" y="5539244"/>
            <a:ext cx="6984825" cy="442306"/>
          </a:xfrm>
          <a:prstGeom prst="rect">
            <a:avLst/>
          </a:prstGeom>
          <a:noFill/>
          <a:ln/>
        </p:spPr>
        <p:txBody>
          <a:bodyPr wrap="square" lIns="0" tIns="21590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CVS 3-4 · presque 16 ans · Classe II · sommeil — 3 confrères : 2 chirurgies, la maman : 0.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60383" y="4948709"/>
            <a:ext cx="3996431" cy="450839"/>
          </a:xfrm>
          <a:prstGeom prst="rect">
            <a:avLst/>
          </a:prstGeom>
          <a:noFill/>
          <a:ln/>
        </p:spPr>
        <p:txBody>
          <a:bodyPr wrap="square" lIns="101600" tIns="203200" rIns="2032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Gardez votre position — j'y reviens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9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196555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196555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7095" y="6292693"/>
            <a:ext cx="54231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67293" y="4036316"/>
            <a:ext cx="5679735" cy="577836"/>
          </a:xfrm>
          <a:prstGeom prst="roundRect">
            <a:avLst>
              <a:gd name="adj" fmla="val 19780"/>
            </a:avLst>
          </a:prstGeom>
          <a:solidFill>
            <a:srgbClr val="3A3733"/>
          </a:solidFill>
          <a:ln/>
        </p:spPr>
      </p:sp>
      <p:sp>
        <p:nvSpPr>
          <p:cNvPr id="3" name="Shape 1"/>
          <p:cNvSpPr/>
          <p:nvPr/>
        </p:nvSpPr>
        <p:spPr>
          <a:xfrm>
            <a:off x="660383" y="1323743"/>
            <a:ext cx="4352915" cy="4657807"/>
          </a:xfrm>
          <a:prstGeom prst="roundRect">
            <a:avLst>
              <a:gd name="adj" fmla="val 2918"/>
            </a:avLst>
          </a:prstGeom>
          <a:solidFill>
            <a:srgbClr val="EFE7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Le dispositif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MARPE modifié · 2 vérins de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distalisation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267293" y="2843439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MARPE modifié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appuis dentaires inclus (Moon, Pereira-Varella)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267293" y="3186033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vérins de distalisation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recul + amorce de l'effet Classe II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267293" y="3528627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Anticipé en sécurité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au cas où la 2e chirurgie serait refusée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267293" y="4036316"/>
            <a:ext cx="5679735" cy="577836"/>
          </a:xfrm>
          <a:prstGeom prst="rect">
            <a:avLst/>
          </a:prstGeom>
          <a:noFill/>
          <a:ln/>
        </p:spPr>
        <p:txBody>
          <a:bodyPr wrap="square" lIns="165100" tIns="215900" rIns="21590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Idée —</a:t>
            </a:r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 seul ancrage osseux, plusieurs plans possibles.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994247" y="3547875"/>
            <a:ext cx="1735888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 — dispositif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2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199333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10199333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9873" y="6292693"/>
            <a:ext cx="539538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3624073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3" name="Shape 1"/>
          <p:cNvSpPr/>
          <p:nvPr/>
        </p:nvSpPr>
        <p:spPr>
          <a:xfrm>
            <a:off x="6235544" y="3624073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Après l'expansion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Après le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MARPE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1924200" y="3624073"/>
            <a:ext cx="2818933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Occlusales — gain transverse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32886" y="3624073"/>
            <a:ext cx="2951783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Intra — articulé croisé corrigé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9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13633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13633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66870" y="6292693"/>
            <a:ext cx="602540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Le refus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maman dit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à la 2e chirurgie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5816455"/>
            <a:ext cx="10921727" cy="165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trop tard dans la croissance : déposer pour un multibague + Forsus serait trop long.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2939679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 mm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par le relâchement articulaire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3355693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 mm possibles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par les vérins de distalisation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60383" y="3771706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un shift d'arcade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« je suis bon »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9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18316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18316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3700" y="6292693"/>
            <a:ext cx="555710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323743"/>
            <a:ext cx="4352915" cy="4657807"/>
          </a:xfrm>
          <a:prstGeom prst="roundRect">
            <a:avLst>
              <a:gd name="adj" fmla="val 2918"/>
            </a:avLst>
          </a:prstGeom>
          <a:solidFill>
            <a:srgbClr val="EFE7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Le problème à l'envers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Convertir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sans redémarrer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267293" y="3100806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Dépose de l'appareil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envoi au labo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267293" y="3443400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Herbst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sur les 6 bagues supérieures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267293" y="3785994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Armature dento-portée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appuis inférieurs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267293" y="4128587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Pose des pistons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le Herbst est en place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608891" y="3547875"/>
            <a:ext cx="250660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 — labo / conversion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1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148138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10148138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8677" y="6292693"/>
            <a:ext cx="590734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3624073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3" name="Shape 1"/>
          <p:cNvSpPr/>
          <p:nvPr/>
        </p:nvSpPr>
        <p:spPr>
          <a:xfrm>
            <a:off x="6235544" y="3624073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Herbst en place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L'effet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sagittal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démarre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2410757" y="3624073"/>
            <a:ext cx="184572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Intra — Herbst posé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539246" y="3624073"/>
            <a:ext cx="2739064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Profil — la mandibule avance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9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144070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144070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4609" y="6292693"/>
            <a:ext cx="594802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3624073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3" name="Shape 1"/>
          <p:cNvSpPr/>
          <p:nvPr/>
        </p:nvSpPr>
        <p:spPr>
          <a:xfrm>
            <a:off x="6235544" y="3624073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Les petits caractères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 que je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n'avais pas prévu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2324439" y="3624073"/>
            <a:ext cx="2018456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T0 + Herbst en bouche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618222" y="3624073"/>
            <a:ext cx="258121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 / vidéo — témoignage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9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13385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13385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64390" y="6292693"/>
            <a:ext cx="605021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412641"/>
            <a:ext cx="2612960" cy="2011411"/>
          </a:xfrm>
          <a:prstGeom prst="roundRect">
            <a:avLst>
              <a:gd name="adj" fmla="val 6314"/>
            </a:avLst>
          </a:prstGeom>
          <a:solidFill>
            <a:srgbClr val="EFE7DC"/>
          </a:solidFill>
          <a:ln/>
        </p:spPr>
      </p:sp>
      <p:sp>
        <p:nvSpPr>
          <p:cNvPr id="3" name="Shape 1"/>
          <p:cNvSpPr/>
          <p:nvPr/>
        </p:nvSpPr>
        <p:spPr>
          <a:xfrm>
            <a:off x="3413040" y="1412641"/>
            <a:ext cx="2612960" cy="2011411"/>
          </a:xfrm>
          <a:prstGeom prst="roundRect">
            <a:avLst>
              <a:gd name="adj" fmla="val 6314"/>
            </a:avLst>
          </a:prstGeom>
          <a:solidFill>
            <a:srgbClr val="EFE7DC"/>
          </a:solidFill>
          <a:ln/>
        </p:spPr>
      </p:sp>
      <p:sp>
        <p:nvSpPr>
          <p:cNvPr id="4" name="Shape 2"/>
          <p:cNvSpPr/>
          <p:nvPr/>
        </p:nvSpPr>
        <p:spPr>
          <a:xfrm>
            <a:off x="6165696" y="1412641"/>
            <a:ext cx="2612960" cy="2011411"/>
          </a:xfrm>
          <a:prstGeom prst="roundRect">
            <a:avLst>
              <a:gd name="adj" fmla="val 6314"/>
            </a:avLst>
          </a:prstGeom>
          <a:solidFill>
            <a:srgbClr val="EFE7DC"/>
          </a:solidFill>
          <a:ln/>
        </p:spPr>
      </p:sp>
      <p:sp>
        <p:nvSpPr>
          <p:cNvPr id="5" name="Shape 3"/>
          <p:cNvSpPr/>
          <p:nvPr/>
        </p:nvSpPr>
        <p:spPr>
          <a:xfrm>
            <a:off x="8918352" y="1412641"/>
            <a:ext cx="2612960" cy="2011411"/>
          </a:xfrm>
          <a:prstGeom prst="roundRect">
            <a:avLst>
              <a:gd name="adj" fmla="val 6314"/>
            </a:avLst>
          </a:prstGeom>
          <a:solidFill>
            <a:srgbClr val="EFE7DC"/>
          </a:solidFill>
          <a:ln/>
        </p:spPr>
      </p:sp>
      <p:pic>
        <p:nvPicPr>
          <p:cNvPr id="6" name="Image 0" descr="/home/user/Carrousel-TSS/deck/out_antoine/photos/15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539" y="3690746"/>
            <a:ext cx="1588156" cy="2011411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7" name="Image 1" descr="/home/user/Carrousel-TSS/deck/out_antoine/photos/15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895" y="3690746"/>
            <a:ext cx="1584366" cy="2011411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Fin de traitement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Résultat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</a:t>
            </a:r>
            <a:endParaRPr lang="en-US" sz="2900" dirty="0"/>
          </a:p>
        </p:txBody>
      </p:sp>
      <p:sp>
        <p:nvSpPr>
          <p:cNvPr id="10" name="Text 6"/>
          <p:cNvSpPr txBox="1"/>
          <p:nvPr/>
        </p:nvSpPr>
        <p:spPr>
          <a:xfrm>
            <a:off x="660383" y="5816455"/>
            <a:ext cx="10921727" cy="165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Classe II devenue quasi Classe III · hyper-Classe I tenu · sans extraction, sans chirurgie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758212" y="2313525"/>
            <a:ext cx="468102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Face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374048" y="2313525"/>
            <a:ext cx="741741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Sourire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7194072" y="2313525"/>
            <a:ext cx="607005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Profil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9702557" y="2313525"/>
            <a:ext cx="1095348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Occlusales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6" name="Image 2" descr="/home/user/Carrousel-TS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0136629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8" name="Text 13"/>
          <p:cNvSpPr/>
          <p:nvPr/>
        </p:nvSpPr>
        <p:spPr>
          <a:xfrm>
            <a:off x="10136629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67168" y="6292693"/>
            <a:ext cx="602243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444489"/>
            <a:ext cx="166732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Quiz · la dépose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4884417"/>
            <a:ext cx="8889778" cy="109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enlève les vis.</a:t>
            </a:r>
            <a:endParaRPr lang="en-US" sz="4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Faut-il anesthésier 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5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137323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10137323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67863" y="6292693"/>
            <a:ext cx="601548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476140"/>
            <a:ext cx="10870928" cy="4505411"/>
          </a:xfrm>
          <a:prstGeom prst="roundRect">
            <a:avLst>
              <a:gd name="adj" fmla="val 2819"/>
            </a:avLst>
          </a:prstGeom>
          <a:solidFill>
            <a:srgbClr val="EFE7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La réponse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vidéo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089001" y="3624073"/>
            <a:ext cx="2064393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Vidéo — dépose des vis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7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152503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10152503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83043" y="6292693"/>
            <a:ext cx="586368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3484376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3" name="Shape 1"/>
          <p:cNvSpPr/>
          <p:nvPr/>
        </p:nvSpPr>
        <p:spPr>
          <a:xfrm>
            <a:off x="6235544" y="3484376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Le palais après dépose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 trou de vis au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site cicatrisé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5816455"/>
            <a:ext cx="10921727" cy="165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Illustration sur une autre patiente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181667" y="3484376"/>
            <a:ext cx="230400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la dépose — trou de vis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889678" y="3484376"/>
            <a:ext cx="2038299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Après — site cicatrisé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0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136827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10136827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67366" y="6292693"/>
            <a:ext cx="602044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84459" y="1285644"/>
            <a:ext cx="4246853" cy="4695906"/>
          </a:xfrm>
          <a:prstGeom prst="roundRect">
            <a:avLst>
              <a:gd name="adj" fmla="val 2990"/>
            </a:avLst>
          </a:prstGeom>
          <a:solidFill>
            <a:srgbClr val="EFE7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Le vrai coût osseux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Je réponds à ceux qui auraient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extrait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2967559"/>
            <a:ext cx="6370081" cy="456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pourrait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compenser + extraire 2 prémolaires — une option légitime.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3538449"/>
            <a:ext cx="6420880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 de vis ~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mm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cicatrise sans trace.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60383" y="3881043"/>
            <a:ext cx="6420880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Alvéole de prémolaire ~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× 7 mm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une dizaine de sites de vis.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60383" y="4223637"/>
            <a:ext cx="6420880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Extraction ortho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symétrique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2 à 4 dents saines. La vis : aucune.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495591" y="3528825"/>
            <a:ext cx="3875288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Démo — alvéole vs ronds de vis à l'échelle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1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139605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10139605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0144" y="6292693"/>
            <a:ext cx="59926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Tips 1/3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TAD-first — changer de plan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sans redémarrer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2941266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Appareil sur vis : on dépose l'armature, on modifie, on repose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sans toucher aux vis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3357280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TAD-last, il aurait fallu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tout redéposer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3773294"/>
            <a:ext cx="10870928" cy="552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Leçon — chez l'ado dont le plan peut bouger,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TAD-first = liberté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changer de dispositif en cours de route.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8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101308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10101308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1847" y="6292693"/>
            <a:ext cx="637564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Tips 2/3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Anticiper le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B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3079375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Prévoir les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vérins de distalisation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dès la pose (sécurité, ne coûte rien).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3495389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Sur-corriger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(hyper-Classe I) quand la compliance est incertaine.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3911403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Leçon — chez l'ado, on règle en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anticipant la non-compliance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8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148138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10148138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8677" y="6292693"/>
            <a:ext cx="590734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Tips 3/3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labo réactif change les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possibles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2941266"/>
            <a:ext cx="10870928" cy="552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conversion Herbst rapide n'a été possible que grâce à une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fabrication réactive et intégrée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(SmileLab).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3633597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délai rédhibitoire devient une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manœuvre de quelques jours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4049611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Leçon —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piloter la fabrication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ouvre des options cliniques.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8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113214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10113214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43753" y="6292693"/>
            <a:ext cx="625658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323743"/>
            <a:ext cx="5327517" cy="4657807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203795" y="1323743"/>
            <a:ext cx="5327517" cy="4657807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TAD-first vs TAD-last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Changer de plan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sans redémarrer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933427" y="1571387"/>
            <a:ext cx="483222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TAD-first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76838" y="1571387"/>
            <a:ext cx="483222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TAD-last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33427" y="1933328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L'ancrage osseux </a:t>
            </a:r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d'abord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le reste s'y adapte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33427" y="2319776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Armature retirée sans toucher aux vis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33427" y="2706223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Empreinte, labo, repose : on change de cap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76838" y="1933328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L'ancrage </a:t>
            </a:r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dernier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le plan est figé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76838" y="2319776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Changer de plan = souvent redémarrer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76838" y="2706223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Moins d'options quand l'imprévu survient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5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0109046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10109046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9586" y="6292693"/>
            <a:ext cx="629825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323743"/>
            <a:ext cx="5327517" cy="4657807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203795" y="1323743"/>
            <a:ext cx="5327517" cy="4657807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Ce que ça change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lui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Pour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nous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933427" y="1571387"/>
            <a:ext cx="483222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lui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76838" y="1571387"/>
            <a:ext cx="483222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nous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33427" y="1933328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chirurgies évitées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33427" y="2319776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garde son visage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33427" y="2706223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Respiration et sommeil corrigés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76838" y="1933328"/>
            <a:ext cx="4781430" cy="633198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seul ancrage, deux plans, changement de cap sans redémarrer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76838" y="2566526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clé chez l'ado dont la croissance est incertaine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4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0098827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10098827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9367" y="6292693"/>
            <a:ext cx="640044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1935908"/>
            <a:ext cx="10921727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chute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2348648"/>
            <a:ext cx="9524762" cy="110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1, la vis 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ancrait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8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Ici, elle est 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polyvalente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3664652"/>
            <a:ext cx="10870928" cy="82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même ancrage osseux, deux plans, sans redémarrer.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clé chez l'ado, Classe II comme Classe III.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6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101605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10101605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2145" y="6292693"/>
            <a:ext cx="63726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Smile Space — Cas 1 Mathys &amp; Cas 2 Antoine</dc:title>
  <dc:subject>PptxGenJS Presentation</dc:subject>
  <dc:creator>PptxGenJS</dc:creator>
  <cp:lastModifiedBy>PptxGenJS</cp:lastModifiedBy>
  <cp:revision>1</cp:revision>
  <dcterms:created xsi:type="dcterms:W3CDTF">2026-09-07T21:05:33Z</dcterms:created>
  <dcterms:modified xsi:type="dcterms:W3CDTF">2026-09-07T21:05:33Z</dcterms:modified>
</cp:coreProperties>
</file>