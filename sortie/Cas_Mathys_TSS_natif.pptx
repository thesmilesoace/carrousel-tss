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[CARTON — ÉNERGIE : rassurer, socle solide + première étincelle.]
Premier patient. Un enfant en denture mixte. Le cas le plus simple en apparence — et pourtant il pose déjà toute la logique des 90 minutes. Dispositif : MARPE avec deux vis de distalisation (expansion + recul des quadrants I et 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1 — Patient. Laisser parler les images, ne pas réciter la fiche. Poser une note humaine : c'est un enfant, on agit tôt, au bon moment.]
Mathys, denture mixte, stade A-B d'Angelieri. Motif : [le sien]. Clinique : déficit transverse, encombrement, [Classe/fonction]. Radios : pano (germes), téléradio + mesures, occlusales, CBCT.
[Émotion : ne pas dérouler une fiche — raconter un enfant, à l'âge où tout se joue.]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Occlusion, rapports transverses et sagittaux,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transverse, encombrement.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 — denture mixte.] Germes, séquence d'éruption, bilan général.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[Téléradio + tracé + tableau.] Rapports squelettiques et dentaires ; base des mesures.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[Points 2+3 — le plan (1er point) puis LA QUESTION. Ils réfléchissent. Formulation inclusive (Hermann : ne pas paraître moralisateur).]
D'abord le plan, un seul point : MARPE + 2 vis de distalisation. On garde le pourquoi.
« Comme Arnel vient de nous le montrer, l'enjeu des vis, c'est de vaincre la résistance du maxillaire. Alors la première idée à laquelle on pourrait TOUS penser, c'est : suture ouverte, stade A-B, aucune résistance… donc pas besoin de vis. [pause] Et pourtant, on en a mis. Si on regarde de plus près… pourquoi, à votre avis ? »
[Repli sans Arnel : « On sait tous que l'intérêt premier des vis, c'est de vaincre la résistance… » — Se caler avec Arnel : sujet + ordre.]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4+5 — la science + les avantages. Cœur pédagogique, prendre le temps.]
Chez le jeune, la suture cède ; le problème c'est l'ANCRAGE — les dents de lait ne tiennent pas. La vis remplace un ancrage défaillant.
Appuis : Wilmes (dispositif pour ancrage dentaire réduit, âge moyen 11,2 ans, PMID 21490997) ; moins de bascule chez le patient en croissance (méta ≤16 ans, 10.3390/app15158326) ; protection de l'os alvéolaire (Copello, 10.1111/ocr.12374) ; distalisation sur ancrage palatin (Mohamed, 10.2319/091717-624.1).
Avantages : expansion squelettique + recul Q1/Q2 sans compensation, avant éruption des 2es molaires.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 dispositif — montrer, expliquer brièvement. La quincaillerie (marque, moteur) va dans le remis / QR, pas ici.]
Vérin central d'expansion, deux vis de distalisation pour reculer les quadrants I et II, ancrage osseux paramédian. À cet âge, 7 mm suffisent.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6 — résultats. Laisser les images prouver, parler peu.]
Avant/après : occlusales (gain transverse + recul des quadrants), profil, sourire. 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7 — tips. ÉNERGIE : creux technique, calme et précis.]
T-zone : à cet âge, ni guide ni bicortical nécessaires. 7 mm d'ancrage suffisent (à présenter comme MA pratique, pas comme un seuil sourcé). Double charge (expansion + distalisation) → stabilité primaire bicorticale critique malgré tout. Séquence : [expand puis distalise / simultané]. Vigilance : bascule distale, rotation disto-palatine, dimension verticale. Mot sur le Micro II si pertinent.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vidéo de pose — codes du démonstrateur (le vendeur de presse-jus) : TEMPO du geste, dédramatiser, PAS de vente. Muette, je commente en direct. Clip propre, court.]
NARRATION (par-dessus la vidéo) :
« On commence par endormir la surface. Puis quelques gouttes sur chaque site — quelques gouttes suffisent, on endort le périoste, pas l'os. On pose la vis. Le seul piège : on n'oriente pas perpendiculairement au plan sagittal — mais perpendiculairement à l'os qu'on aborde. La vis sur le tournevis, torque sur 35. Et là… pas de forcing — on ne pousse pas comme un malade, on visse. On avance… et on s'arrête net quand la tête touche la gencive. Un scan, têtes de vis nues, direction le labo. »
[Puis, si dispo : témoignage patient « je n'ai rien senti ».]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[Interaction 2 — ils votent à main levée. Rappel de la leçon + le point T-zone.]
« Pour expandre ce palais à 12 ans, l'ancrage bicortical est-il indispensable ? » [vote]
RÉVÉLATION : « Non. La résistance est quasi nulle — la vis ancre, elle ne force pas. Et il y a mieux : à cet âge, si on est dans la T-zone, on n'a même pas besoin de guide ni d'ancrage bicortical. 7 mm suffisent. À 16 ans, là, on ira volontiers chercher le bicortical — mais ça, c'est le cas suivant… » [pont vers Antoine]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8 — LA distinction qu'Hermann trouvait floue. La marquer nettement, lentement, avec une pause entre les deux colonnes. Côté patient = émotion (sa vie) ; côté ortho = clinique (ta pratique).]
« Pour lui, dans sa vie : traité au bon moment, une phase en moins, il aborde son adolescence avec une bouche fonctionnelle, il respire et dort mieux. [temps] Pour nous : un ancrage fiable même quand la denture ne suit pas, un geste simple, reproductible — et on repense la fenêtre d'intervention de toute une génération.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 CHUTE — marquer une coupure de voix avant (« Et si je devais résumer tout ça en une phrase… »), plus posée, plus large. Lance le cas suivant.]
« Chez l'adulte, la vis vainc l'os. Chez l'enfant, elle ne vainc rien : elle ANCRE. Même outil, deux missions. Et c'est toute l'histoire des quatre-vingt-dix minutes qui viennent.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image" Target="../media/image-11-8.jpg"/><Relationship Id="rId9" Type="http://schemas.openxmlformats.org/officeDocument/2006/relationships/image" Target="../media/image-11-9.jp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Mathys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Denture mixte · 12,5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de consultation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Encombrement dentaire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Angelieri A-B · déficit transverse · encombrement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Même outil, deux missions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7811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7811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mathys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93" y="1104872"/>
            <a:ext cx="3744323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8650" y="6292693"/>
            <a:ext cx="46076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430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430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627" y="6292693"/>
            <a:ext cx="49578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335650"/>
            <a:ext cx="3479713" cy="23197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335650"/>
            <a:ext cx="3479713" cy="23197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335650"/>
            <a:ext cx="3479713" cy="23197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3902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3902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9559" y="6292693"/>
            <a:ext cx="49985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730332"/>
            <a:ext cx="5295768" cy="3530512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730332"/>
            <a:ext cx="5295768" cy="3530512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2880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2880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59340" y="6292693"/>
            <a:ext cx="51007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216090"/>
            <a:ext cx="10870928" cy="455899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231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231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118" y="6292693"/>
            <a:ext cx="507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92" y="176109"/>
            <a:ext cx="5308451" cy="6638957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847" y="309257"/>
            <a:ext cx="5308461" cy="6372760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23217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23217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713" y="6292693"/>
            <a:ext cx="506697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7_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121" y="1820916"/>
            <a:ext cx="3943131" cy="2784108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2135333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2357577"/>
            <a:ext cx="6572086" cy="131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Suture ouverte. Stade A-B. Aucune résistance.</a:t>
            </a:r>
            <a:endParaRPr lang="en-US" sz="3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 pourtant, des vis.</a:t>
            </a:r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Pourquoi 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0383" y="3712177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0383" y="3712177"/>
            <a:ext cx="6572086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La première idée à laquelle on pourrait tous penser : pas de résistance, donc pas besoin de vis… »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8" name="Image 1" descr="/home/user/Carrousel-TSS/assets/logo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24745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1024745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7993" y="6292693"/>
            <a:ext cx="491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2499952"/>
            <a:ext cx="3496580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47458" y="2499952"/>
            <a:ext cx="3496679" cy="1873501"/>
          </a:xfrm>
          <a:prstGeom prst="roundRect">
            <a:avLst>
              <a:gd name="adj" fmla="val 745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34633" y="2499952"/>
            <a:ext cx="3496679" cy="1640343"/>
          </a:xfrm>
          <a:prstGeom prst="roundRect">
            <a:avLst>
              <a:gd name="adj" fmla="val 8516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5328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6" name="Shape 4"/>
          <p:cNvSpPr/>
          <p:nvPr/>
        </p:nvSpPr>
        <p:spPr>
          <a:xfrm>
            <a:off x="4582403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7" name="Shape 5"/>
          <p:cNvSpPr/>
          <p:nvPr/>
        </p:nvSpPr>
        <p:spPr>
          <a:xfrm>
            <a:off x="8269577" y="2747596"/>
            <a:ext cx="419090" cy="419090"/>
          </a:xfrm>
          <a:prstGeom prst="roundRect">
            <a:avLst>
              <a:gd name="adj" fmla="val 24242"/>
            </a:avLst>
          </a:prstGeom>
          <a:solidFill>
            <a:srgbClr val="3A3733"/>
          </a:solidFill>
          <a:ln/>
        </p:spPr>
      </p:sp>
      <p:sp>
        <p:nvSpPr>
          <p:cNvPr id="8" name="Shape 6"/>
          <p:cNvSpPr/>
          <p:nvPr/>
        </p:nvSpPr>
        <p:spPr>
          <a:xfrm>
            <a:off x="660383" y="5689458"/>
            <a:ext cx="2275624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4906" y="5689458"/>
            <a:ext cx="2736087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9890" y="5689458"/>
            <a:ext cx="2347953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6741" y="5689458"/>
            <a:ext cx="2799585" cy="292093"/>
          </a:xfrm>
          <a:prstGeom prst="roundRect">
            <a:avLst>
              <a:gd name="adj" fmla="val 50000"/>
            </a:avLst>
          </a:prstGeom>
          <a:solidFill>
            <a:srgbClr val="F0EBE1"/>
          </a:solidFill>
          <a:ln w="12700">
            <a:solidFill>
              <a:srgbClr val="E1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La réponse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Ancrage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vs résistance.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895328" y="3331782"/>
            <a:ext cx="3077490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suture cède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82403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vrai problème : l'ancrage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269577" y="3331782"/>
            <a:ext cx="3077589" cy="238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vis ne force pas l'os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95328" y="3659493"/>
            <a:ext cx="3026692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elle est ouverte — elle ne résiste pas.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82403" y="3659493"/>
            <a:ext cx="3026791" cy="4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dents de lait ne tiennent pas les forces.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69577" y="3659493"/>
            <a:ext cx="3077589" cy="23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remplace un ancrage défaillant.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95328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82403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69577" y="2747596"/>
            <a:ext cx="41909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0383" y="5689458"/>
            <a:ext cx="2275624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Wilmes 2010 · PMID 21490997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24906" y="5689458"/>
            <a:ext cx="2736087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Méta ≤16 ans · 10.3390/app15158326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49890" y="5689458"/>
            <a:ext cx="2347953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Copello 2020 · 10.1111/ocr.12374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86741" y="5689458"/>
            <a:ext cx="2799585" cy="292093"/>
          </a:xfrm>
          <a:prstGeom prst="rect">
            <a:avLst/>
          </a:prstGeom>
          <a:noFill/>
          <a:ln/>
        </p:spPr>
        <p:txBody>
          <a:bodyPr wrap="square" lIns="57150" tIns="127000" rIns="1270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Mohamed 2018 · 10.2319/091717-624.1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2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023167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1023167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2217" y="6292693"/>
            <a:ext cx="50719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09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21" y="1513048"/>
            <a:ext cx="4268111" cy="2890368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09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313" y="1543210"/>
            <a:ext cx="3161529" cy="283004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09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645" y="2242188"/>
            <a:ext cx="3161609" cy="1432088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09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4775081"/>
            <a:ext cx="1206470" cy="1206470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Sites d'insertion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660383" y="717532"/>
            <a:ext cx="10921727" cy="30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300" dirty="0"/>
          </a:p>
        </p:txBody>
      </p:sp>
      <p:sp>
        <p:nvSpPr>
          <p:cNvPr id="8" name="Text 2"/>
          <p:cNvSpPr txBox="1"/>
          <p:nvPr/>
        </p:nvSpPr>
        <p:spPr>
          <a:xfrm>
            <a:off x="2057349" y="5058343"/>
            <a:ext cx="5206870" cy="63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 —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 guide, ni ancrage bicortical indispensables à cet âge.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Tarraf &amp; Wilmes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A65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Semin Orthod 2024 — CC BY 4.0, avec l'aimable autorisation du Pr Wilmes.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10234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5"/>
          <p:cNvSpPr/>
          <p:nvPr/>
        </p:nvSpPr>
        <p:spPr>
          <a:xfrm>
            <a:off x="10234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5094" y="6292693"/>
            <a:ext cx="504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91938" y="3912494"/>
            <a:ext cx="5839374" cy="825479"/>
          </a:xfrm>
          <a:prstGeom prst="roundRect">
            <a:avLst>
              <a:gd name="adj" fmla="val 13846"/>
            </a:avLst>
          </a:prstGeom>
          <a:solidFill>
            <a:srgbClr val="3A3733"/>
          </a:solidFill>
          <a:ln/>
        </p:spPr>
      </p:sp>
      <p:pic>
        <p:nvPicPr>
          <p:cNvPr id="3" name="Image 0" descr="/home/user/Carrousel-TSS/deck/out/photos/10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323743"/>
            <a:ext cx="4777561" cy="4657807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Le dispositif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+ 2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5691938" y="2719617"/>
            <a:ext cx="5890172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 central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expansion transverse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691938" y="3062211"/>
            <a:ext cx="5890172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des quadrants I &amp; II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691938" y="3404805"/>
            <a:ext cx="5890172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Ancrage osseux paramédian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 arrière des incisives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691938" y="3912494"/>
            <a:ext cx="5839374" cy="825479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cet âge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 mm d'ancrage osseux suffisent (faible résistance suturale).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7145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017145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1993" y="6292693"/>
            <a:ext cx="56741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11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11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25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11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267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11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6" name="Image 4" descr="/home/user/Carrousel-TSS/deck/out/photos/11_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325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7" name="Image 5" descr="/home/user/Carrousel-TSS/deck/out/photos/11_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267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8" name="Image 6" descr="/home/user/Carrousel-TSS/deck/out/photos/11_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83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9" name="Image 7" descr="/home/user/Carrousel-TSS/deck/out/photos/11_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325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10" name="Image 8" descr="/home/user/Carrousel-TSS/deck/out/photos/11_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2267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11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12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 maxillaire —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dispositif au résultat</a:t>
            </a:r>
            <a:endParaRPr lang="en-US" sz="2900" dirty="0"/>
          </a:p>
        </p:txBody>
      </p:sp>
      <p:sp>
        <p:nvSpPr>
          <p:cNvPr id="13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4" name="Image 9" descr="/home/user/Carrousel-TSS/assets/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1021838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6" name="Text 4"/>
          <p:cNvSpPr/>
          <p:nvPr/>
        </p:nvSpPr>
        <p:spPr>
          <a:xfrm>
            <a:off x="1021838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922" y="6292693"/>
            <a:ext cx="52048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1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/photos/1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25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/photos/1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267" y="1450740"/>
            <a:ext cx="3538945" cy="14255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/photos/1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6" name="Image 4" descr="/home/user/Carrousel-TSS/deck/out/photos/12_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325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7" name="Image 5" descr="/home/user/Carrousel-TSS/deck/out/photos/12_5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267" y="3003276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8" name="Image 6" descr="/home/user/Carrousel-TSS/deck/out/photos/12_6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83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9" name="Image 7" descr="/home/user/Carrousel-TSS/deck/out/photos/12_7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325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10" name="Image 8" descr="/home/user/Carrousel-TSS/deck/out/photos/12_8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2267" y="4555912"/>
            <a:ext cx="3538945" cy="142563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11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Evolution</a:t>
            </a:r>
            <a:endParaRPr lang="en-US" sz="1200" dirty="0"/>
          </a:p>
        </p:txBody>
      </p:sp>
      <p:sp>
        <p:nvSpPr>
          <p:cNvPr id="12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 —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séquence complète</a:t>
            </a:r>
            <a:endParaRPr lang="en-US" sz="2900" dirty="0"/>
          </a:p>
        </p:txBody>
      </p:sp>
      <p:sp>
        <p:nvSpPr>
          <p:cNvPr id="13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4" name="Image 9" descr="/home/user/Carrousel-TSS/assets/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1018335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6" name="Text 4"/>
          <p:cNvSpPr/>
          <p:nvPr/>
        </p:nvSpPr>
        <p:spPr>
          <a:xfrm>
            <a:off x="1018335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899" y="6292693"/>
            <a:ext cx="55551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Conseils &amp; protocole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12 ans :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mm suffisent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7 mm, dans ma pratique » — expérience clinique, pas un seuil publié.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731722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T-zone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ni guide ni bicortical nécessaires à cet âge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14773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mm d'ancrage osseux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faible résistance suturale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56374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charge (expansion + distalisation)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stabilité primaire critique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397976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Vigilance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bascule · rotation disto-palatine · dimension verticale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79192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79192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9732" y="6292693"/>
            <a:ext cx="559679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75896" y="1323743"/>
            <a:ext cx="4555416" cy="4657807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60383" y="1323743"/>
            <a:ext cx="6163116" cy="4657807"/>
          </a:xfrm>
          <a:prstGeom prst="roundRect">
            <a:avLst>
              <a:gd name="adj" fmla="val 2727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pose, 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trente secondes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248939" y="1571387"/>
            <a:ext cx="4060128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tempo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48939" y="1933328"/>
            <a:ext cx="4060128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repère.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248939" y="2319776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quart de tour, deux, trois… la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stabilité primaire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248939" y="2952974"/>
            <a:ext cx="4009329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forcing — on s'arrête quand la tête touche la gencive.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837585" y="3547875"/>
            <a:ext cx="185941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pose des vis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6897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6897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99513" y="6292693"/>
            <a:ext cx="56989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Vidéo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L'appareil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bouche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4502137" y="3624073"/>
            <a:ext cx="323822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/ photo — appareil en bouche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717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717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291" y="6292693"/>
            <a:ext cx="5671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59195"/>
            <a:ext cx="1630322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pic>
        <p:nvPicPr>
          <p:cNvPr id="3" name="Image 0" descr="/home/user/Carrousel-TSS/deck/out/photos/16_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223" y="1212720"/>
            <a:ext cx="4469079" cy="4000499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60383" y="2316005"/>
            <a:ext cx="150788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2538250"/>
            <a:ext cx="6046239" cy="90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L'ancrage bicortical —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indispensable à 12 ans ?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60383" y="3659195"/>
            <a:ext cx="1630322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main levée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8" name="Image 1" descr="/home/user/Carrousel-TSS/assets/logo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1724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101724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85" y="6292693"/>
            <a:ext cx="56642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le patient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l'orthodontiste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Traité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bon moment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compensation dentaire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aborde l'adolescence avec une bouche fonctionnelle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respire et dort mieux — au moment où le regard des autres compte le plus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ancrage fiable même quand la denture ne suit pas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geste simple : 7 mm, T-zone, pas de guide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952974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Reproductible — on repense la fenêtre d'intervention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8762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8762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165" y="6292693"/>
            <a:ext cx="55124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/photos/18_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84" y="1984821"/>
            <a:ext cx="3680328" cy="245639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1867250"/>
            <a:ext cx="688570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leçon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60383" y="2279990"/>
            <a:ext cx="6834910" cy="165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l'adulte,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vainc l'os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Chez l'enfant, elle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60383" y="4146049"/>
            <a:ext cx="6885708" cy="41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Même outil, deux missions.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1" descr="/home/user/Carrousel-TSS/assets/logo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7195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1017195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489" y="6292693"/>
            <a:ext cx="56692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1 · Mathys</dc:title>
  <dc:subject>PptxGenJS Presentation</dc:subject>
  <dc:creator>PptxGenJS</dc:creator>
  <cp:lastModifiedBy>PptxGenJS</cp:lastModifiedBy>
  <cp:revision>1</cp:revision>
  <dcterms:created xsi:type="dcterms:W3CDTF">2026-09-07T21:50:15Z</dcterms:created>
  <dcterms:modified xsi:type="dcterms:W3CDTF">2026-09-07T21:50:15Z</dcterms:modified>
</cp:coreProperties>
</file>