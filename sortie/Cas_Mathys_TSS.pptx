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[CARTON — ÉNERGIE : rassurer, socle solide + première étincelle.]
Premier patient. Un enfant en denture mixte. Le cas le plus simple en apparence — et pourtant il pose déjà toute la logique des 90 minutes. Dispositif : MARPE avec deux vis de distalisation (expansion + recul des quadrants I et II).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1 — Patient. Laisser parler les images, ne pas réciter la fiche. Poser une note humaine : c'est un enfant, on agit tôt, au bon moment.]
Mathys, denture mixte, stade A-B d'Angelieri. Motif : [le sien]. Clinique : déficit transverse, encombrement, [Classe/fonction]. Radios : pano (germes), téléradio + mesures, occlusales, CBCT.
[Émotion : ne pas dérouler une fiche — raconter un enfant, à l'âge où tout se joue.]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[Doc intra — latéral D / face / latéral G.] Occlusion, rapports transverses et sagittaux, encombrement.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[Vues occlusales — maxillaire / mandibulaire.] Forme d'arcade, déficit transverse, encombrement.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[Panoramique — denture mixte.] Germes, séquence d'éruption, bilan général.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[Téléradio + tracé + tableau.] Rapports squelettiques et dentaires ; base des mesures.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[Points 2+3 — le plan (1er point) puis LA QUESTION. Ils réfléchissent. Formulation inclusive (Hermann : ne pas paraître moralisateur).]
D'abord le plan, un seul point : MARPE + 2 vis de distalisation. On garde le pourquoi.
« Comme Arnel vient de nous le montrer, l'enjeu des vis, c'est de vaincre la résistance du maxillaire. Alors la première idée à laquelle on pourrait TOUS penser, c'est : suture ouverte, stade A-B, aucune résistance… donc pas besoin de vis. [pause] Et pourtant, on en a mis. Si on regarde de plus près… pourquoi, à votre avis ? »
[Repli sans Arnel : « On sait tous que l'intérêt premier des vis, c'est de vaincre la résistance… » — Se caler avec Arnel : sujet + ordre.]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4+5 — la science + les avantages. Cœur pédagogique, prendre le temps.]
Chez le jeune, la suture cède ; le problème c'est l'ANCRAGE — les dents de lait ne tiennent pas. La vis remplace un ancrage défaillant.
Appuis : Wilmes (dispositif pour ancrage dentaire réduit, âge moyen 11,2 ans, PMID 21490997) ; moins de bascule chez le patient en croissance (méta ≤16 ans, 10.3390/app15158326) ; protection de l'os alvéolaire (Copello, 10.1111/ocr.12374) ; distalisation sur ancrage palatin (Mohamed, 10.2319/091717-624.1).
Avantages : expansion squelettique + recul Q1/Q2 sans compensation, avant éruption des 2es molaires.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7 — tips. ÉNERGIE : creux technique, calme et précis.]
T-zone : à cet âge, ni guide ni bicortical nécessaires. 7 mm d'ancrage suffisent (à présenter comme MA pratique, pas comme un seuil sourcé). Double charge (expansion + distalisation) → stabilité primaire bicorticale critique malgré tout. Séquence : [expand puis distalise / simultané]. Vigilance : bascule distale, rotation disto-palatine, dimension verticale. Mot sur le Micro II si pertinent.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 dispositif — montrer, expliquer brièvement. La quincaillerie (marque, moteur) va dans le remis / QR, pas ici.]
Vérin central d'expansion, deux vis de distalisation pour reculer les quadrants I et II, ancrage osseux paramédian. À cet âge, 7 mm suffisent.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6 — résultats. Laisser les images prouver, parler peu.]
Avant/après : occlusales (gain transverse + recul des quadrants), profil, sourire. Évolution dans le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6 — résultats. Laisser les images prouver, parler peu.]
Avant/après : occlusales (gain transverse + recul des quadrants), profil, sourire. Évolution dans le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7 — tips. ÉNERGIE : creux technique, calme et précis.]
T-zone : à cet âge, ni guide ni bicortical nécessaires. 7 mm d'ancrage suffisent (à présenter comme MA pratique, pas comme un seuil sourcé). Double charge (expansion + distalisation) → stabilité primaire bicorticale critique malgré tout. Séquence : [expand puis distalise / simultané]. Vigilance : bascule distale, rotation disto-palatine, dimension verticale. Mot sur le Micro II si pertinent.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vidéo de pose — codes du démonstrateur (le vendeur de presse-jus) : TEMPO du geste, dédramatiser, PAS de vente. Muette, je commente en direct. Clip propre, court.]
NARRATION (par-dessus la vidéo) :
« On commence par endormir la surface. Puis quelques gouttes sur chaque site — quelques gouttes suffisent, on endort le périoste, pas l'os. On pose la vis. Le seul piège : on n'oriente pas perpendiculairement au plan sagittal — mais perpendiculairement à l'os qu'on aborde. La vis sur le tournevis, torque sur 35. Et là… pas de forcing — on ne pousse pas comme un malade, on visse. On avance… et on s'arrête net quand la tête touche la gencive. Un scan, têtes de vis nues, direction le labo. »
[Puis, si dispo : témoignage patient « je n'ai rien senti ».]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vidéo de pose — codes du démonstrateur (le vendeur de presse-jus) : TEMPO du geste, dédramatiser, PAS de vente. Muette, je commente en direct. Clip propre, court.]
NARRATION (par-dessus la vidéo) :
« On commence par endormir la surface. Puis quelques gouttes sur chaque site — quelques gouttes suffisent, on endort le périoste, pas l'os. On pose la vis. Le seul piège : on n'oriente pas perpendiculairement au plan sagittal — mais perpendiculairement à l'os qu'on aborde. La vis sur le tournevis, torque sur 35. Et là… pas de forcing — on ne pousse pas comme un malade, on visse. On avance… et on s'arrête net quand la tête touche la gencive. Un scan, têtes de vis nues, direction le labo. »
[Puis, si dispo : témoignage patient « je n'ai rien senti ».]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[Interaction 2 — ils votent à main levée. Rappel de la leçon + le point T-zone.]
« Pour expandre ce palais à 12 ans, l'ancrage bicortical est-il indispensable ? » [vote]
RÉVÉLATION : « Non. La résistance est quasi nulle — la vis ancre, elle ne force pas. Et il y a mieux : à cet âge, si on est dans la T-zone, on n'a même pas besoin de guide ni d'ancrage bicortical. 7 mm suffisent. À 16 ans, là, on ira volontiers chercher le bicortical — mais ça, c'est le cas suivant… » [pont vers Antoine]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8 — LA distinction qu'Hermann trouvait floue. La marquer nettement, lentement, avec une pause entre les deux colonnes. Côté patient = émotion (sa vie) ; côté ortho = clinique (ta pratique).]
« Pour lui, dans sa vie : traité au bon moment, une phase en moins, il aborde son adolescence avec une bouche fonctionnelle, il respire et dort mieux. [temps] Pour nous : un ancrage fiable même quand la denture ne suit pas, un geste simple, reproductible — et on repense la fenêtre d'intervention de toute une génération.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CHUTE — marquer une coupure de voix avant (« Et si je devais résumer tout ça en une phrase… »), plus posée, plus large. Lance le cas suivant.]
« Chez l'adulte, la vis vainc l'os. Chez l'enfant, elle ne vainc rien : elle ANCRE. Même outil, deux missions. Et c'est toute l'histoire des quatre-vingt-dix minutes qui viennent.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489" y="6292693"/>
            <a:ext cx="56692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489" y="6292693"/>
            <a:ext cx="56692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699178"/>
            <a:ext cx="69086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Smile Space · Cas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086518"/>
            <a:ext cx="6908627" cy="93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Mathys</a:t>
            </a:r>
            <a:endParaRPr lang="en-US" sz="75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185041"/>
            <a:ext cx="6908627" cy="34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Denture mixte · 12,5 ans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5879"/>
            <a:ext cx="6908627" cy="284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Motif de consultation —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Encombrement dentaire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7329"/>
            <a:ext cx="69086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Angelieri A-B · déficit transverse · encombrement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434670"/>
            <a:ext cx="6908627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Même outil, deux missions »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7811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27811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pic>
        <p:nvPicPr>
          <p:cNvPr id="12" name="Image 1" descr="/home/user/Carrousel-TSS/assets/carrousels/mathys/exo/face_sourire_cut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93" y="1104872"/>
            <a:ext cx="3744323" cy="480048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8650" y="6292693"/>
            <a:ext cx="46076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2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2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39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02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95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/photos/02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451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6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7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4" descr="/home/user/Carrousel-TS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024308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3"/>
          <p:cNvSpPr/>
          <p:nvPr/>
        </p:nvSpPr>
        <p:spPr>
          <a:xfrm>
            <a:off x="1024308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3627" y="6292693"/>
            <a:ext cx="49578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3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91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03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599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5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6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3" descr="/home/user/Carrousel-TSS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023902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3"/>
          <p:cNvSpPr/>
          <p:nvPr/>
        </p:nvSpPr>
        <p:spPr>
          <a:xfrm>
            <a:off x="1023902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9559" y="6292693"/>
            <a:ext cx="49985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4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4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544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22880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22880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59340" y="6292693"/>
            <a:ext cx="510071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212604"/>
            <a:ext cx="10870928" cy="4565968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5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23157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1023157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118" y="6292693"/>
            <a:ext cx="50729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47" y="1009625"/>
            <a:ext cx="3977541" cy="49719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6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442" y="1009625"/>
            <a:ext cx="4143271" cy="49719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23217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23217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713" y="6292693"/>
            <a:ext cx="506697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50788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3719320"/>
            <a:ext cx="8889778" cy="164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Suture ouverte. Stade A-B. Aucune résistance.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 pourtant, des vis.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Pourquoi 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60383" y="5403120"/>
            <a:ext cx="38099" cy="578431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0383" y="5403120"/>
            <a:ext cx="6984825" cy="578431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 La première idée à laquelle on pourrait tous penser : pas de résistance, donc pas besoin de vis… »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7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4745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24745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7993" y="6292693"/>
            <a:ext cx="49141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2499952"/>
            <a:ext cx="3496580" cy="1873501"/>
          </a:xfrm>
          <a:prstGeom prst="roundRect">
            <a:avLst>
              <a:gd name="adj" fmla="val 745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347458" y="2499952"/>
            <a:ext cx="3496679" cy="1873501"/>
          </a:xfrm>
          <a:prstGeom prst="roundRect">
            <a:avLst>
              <a:gd name="adj" fmla="val 745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34633" y="2499952"/>
            <a:ext cx="3496679" cy="1640343"/>
          </a:xfrm>
          <a:prstGeom prst="roundRect">
            <a:avLst>
              <a:gd name="adj" fmla="val 851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5328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6" name="Shape 4"/>
          <p:cNvSpPr/>
          <p:nvPr/>
        </p:nvSpPr>
        <p:spPr>
          <a:xfrm>
            <a:off x="4582403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7" name="Shape 5"/>
          <p:cNvSpPr/>
          <p:nvPr/>
        </p:nvSpPr>
        <p:spPr>
          <a:xfrm>
            <a:off x="8269577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8" name="Shape 6"/>
          <p:cNvSpPr/>
          <p:nvPr/>
        </p:nvSpPr>
        <p:spPr>
          <a:xfrm>
            <a:off x="660383" y="5689458"/>
            <a:ext cx="2275624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24906" y="5689458"/>
            <a:ext cx="2736087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9890" y="5689458"/>
            <a:ext cx="2347953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86741" y="5689458"/>
            <a:ext cx="2799585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La réponse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Ancrage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vs résistance.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895328" y="3331782"/>
            <a:ext cx="3077490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suture cède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2403" y="3331782"/>
            <a:ext cx="3077589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vrai problème : l'ancrage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269577" y="3331782"/>
            <a:ext cx="3077589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vis ne force pas l'os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95328" y="3659493"/>
            <a:ext cx="3026692" cy="4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cet âge elle est ouverte — elle ne résiste pas.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82403" y="3659493"/>
            <a:ext cx="3026791" cy="4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dents de lait ne tiennent pas les forces.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69577" y="3659493"/>
            <a:ext cx="3077589" cy="23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remplace un ancrage défaillant.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95328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82403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69577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0383" y="5689458"/>
            <a:ext cx="2275624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Wilmes 2010 · PMID 21490997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24906" y="5689458"/>
            <a:ext cx="2736087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Méta ≤16 ans · 10.3390/app15158326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849890" y="5689458"/>
            <a:ext cx="2347953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Copello 2020 · 10.1111/ocr.12374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86741" y="5689458"/>
            <a:ext cx="2799585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Mohamed 2018 · 10.2319/091717-624.1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2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1023167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1023167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217" y="6292693"/>
            <a:ext cx="50719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4775081"/>
            <a:ext cx="1206470" cy="1206470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Sites d'insertion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12 ans :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mm suffisent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660383" y="1298344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T-zone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ni guide, ni ancrage bicortical indispensables à cet âge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2057349" y="5165001"/>
            <a:ext cx="3699675" cy="42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Tarraf &amp; Wilmes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A65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Semin Orthod 2024 — CC BY 4.0,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A65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avec l'aimable autorisation du Pr Wilmes.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23455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1023455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5094" y="6292693"/>
            <a:ext cx="50431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67293" y="3912494"/>
            <a:ext cx="6264019" cy="825479"/>
          </a:xfrm>
          <a:prstGeom prst="roundRect">
            <a:avLst>
              <a:gd name="adj" fmla="val 13846"/>
            </a:avLst>
          </a:prstGeom>
          <a:solidFill>
            <a:srgbClr val="3A3733"/>
          </a:solidFill>
          <a:ln/>
        </p:spPr>
      </p:sp>
      <p:sp>
        <p:nvSpPr>
          <p:cNvPr id="3" name="Shape 1"/>
          <p:cNvSpPr/>
          <p:nvPr/>
        </p:nvSpPr>
        <p:spPr>
          <a:xfrm>
            <a:off x="660383" y="1323743"/>
            <a:ext cx="4352915" cy="4657807"/>
          </a:xfrm>
          <a:prstGeom prst="roundRect">
            <a:avLst>
              <a:gd name="adj" fmla="val 2918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Le dispositif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 + 2 vérins de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distalisation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267293" y="2719617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Vérin central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expansion transverse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267293" y="3062211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vérins de distalisation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recul des quadrants I &amp; II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267293" y="3404805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Ancrage osseux paramédian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 arrière des incisives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267293" y="3912494"/>
            <a:ext cx="6264019" cy="825479"/>
          </a:xfrm>
          <a:prstGeom prst="rect">
            <a:avLst/>
          </a:prstGeom>
          <a:noFill/>
          <a:ln/>
        </p:spPr>
        <p:txBody>
          <a:bodyPr wrap="square" lIns="165100" tIns="215900" rIns="21590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cet âge —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 mm d'ancrage osseux suffisent (faible résistance suturale).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707810" y="3547875"/>
            <a:ext cx="230886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— MARPE + 2 vérins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2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17145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17145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1993" y="6292693"/>
            <a:ext cx="56741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529576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1476140"/>
            <a:ext cx="529576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Evolution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 — avant /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025501" y="3624073"/>
            <a:ext cx="61623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27152" y="3624073"/>
            <a:ext cx="56335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1838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21838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922" y="6292693"/>
            <a:ext cx="520489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529576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1476140"/>
            <a:ext cx="529576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Evolution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&amp; sourire — avant /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025501" y="3624073"/>
            <a:ext cx="61623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27152" y="3624073"/>
            <a:ext cx="56335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8335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8335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3899" y="6292693"/>
            <a:ext cx="55551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Conseils &amp; protocole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12 ans :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mm suffisent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7 mm, dans ma pratique » — expérience clinique, pas un seuil publié.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731722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T-zone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ni guide ni bicortical nécessaires à cet âge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147735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mm d'ancrage osseux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faible résistance suturale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56374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charge (expansion + distalisation)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stabilité primaire critique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0383" y="397976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Vigilance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bascule · rotation disto-palatine · dimension verticale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0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179192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10179192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9732" y="6292693"/>
            <a:ext cx="559679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75896" y="1323743"/>
            <a:ext cx="4555416" cy="4657807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60383" y="1323743"/>
            <a:ext cx="6163116" cy="4657807"/>
          </a:xfrm>
          <a:prstGeom prst="roundRect">
            <a:avLst>
              <a:gd name="adj" fmla="val 2727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Vidéo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pose, en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trente secondes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248939" y="1571387"/>
            <a:ext cx="4060128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tempo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48939" y="1933328"/>
            <a:ext cx="4060128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repère.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248939" y="2319776"/>
            <a:ext cx="4009329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quart de tour, deux, trois… la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stabilité primaire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248939" y="2952974"/>
            <a:ext cx="4009329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forcing — on s'arrête quand la tête touche la gencive.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837585" y="3547875"/>
            <a:ext cx="185941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— pose des vis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2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16897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16897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9513" y="6292693"/>
            <a:ext cx="56989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1087092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Vidéo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L'appareil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bouche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4502137" y="3624073"/>
            <a:ext cx="323822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/ photo — appareil en bouche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717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1717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291" y="6292693"/>
            <a:ext cx="56712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5530712"/>
            <a:ext cx="1630322" cy="450839"/>
          </a:xfrm>
          <a:prstGeom prst="roundRect">
            <a:avLst>
              <a:gd name="adj" fmla="val 19718"/>
            </a:avLst>
          </a:prstGeom>
          <a:solidFill>
            <a:srgbClr val="C3A4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50788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4217684"/>
            <a:ext cx="8889778" cy="109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L'ancrage bicortical —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indispensable à 12 ans 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5530712"/>
            <a:ext cx="1630322" cy="450839"/>
          </a:xfrm>
          <a:prstGeom prst="rect">
            <a:avLst/>
          </a:prstGeom>
          <a:noFill/>
          <a:ln/>
        </p:spPr>
        <p:txBody>
          <a:bodyPr wrap="square" lIns="101600" tIns="203200" rIns="2032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main levée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7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7244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17244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85" y="6292693"/>
            <a:ext cx="56642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Ce que ça change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 patient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l'orthodontiste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Traité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bon moment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sans compensation dentaire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aborde l'adolescence avec une bouche fonctionnelle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952974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respire et dort mieux — au moment où le regard des autres compte le plus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ancrage fiable même quand la denture ne suit pas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56652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geste simple : 7 mm, T-zone, pas de guide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76838" y="2952974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Reproductible — on repense la fenêtre d'intervention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5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8762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1018762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165" y="6292693"/>
            <a:ext cx="55124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2142278"/>
            <a:ext cx="109217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leçon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555017"/>
            <a:ext cx="9524762" cy="110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Chez l'adulte, la vis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vainc l'os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Chez l'enfant, elle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ancre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871022"/>
            <a:ext cx="10921727" cy="41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Même outil, deux missions.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6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7195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1017195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489" y="6292693"/>
            <a:ext cx="56692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Smile Space — Cas 1 · Mathys</dc:title>
  <dc:subject>PptxGenJS Presentation</dc:subject>
  <dc:creator>PptxGenJS</dc:creator>
  <cp:lastModifiedBy>PptxGenJS</cp:lastModifiedBy>
  <cp:revision>1</cp:revision>
  <dcterms:created xsi:type="dcterms:W3CDTF">2026-09-07T20:13:31Z</dcterms:created>
  <dcterms:modified xsi:type="dcterms:W3CDTF">2026-09-07T20:13:31Z</dcterms:modified>
</cp:coreProperties>
</file>