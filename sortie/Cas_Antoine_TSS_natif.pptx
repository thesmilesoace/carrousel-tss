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patient. Antoine, 15 ans et demi. On monte d'un cran : ici, quelque chose commence à changer. (Énergie : intrigué)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motif, l'histoire d'Antoine, les 3 avis reçus. Raconter, pas décrire.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Classe II, rapports transverses.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[Panoramique.] Bilan général, dents de sagesse.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II squelettique, profil convexe, croissance quasi finie.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Quasi certain de corriger le transversal sans chirurgie à son âge ; dit à la maman avec la réserve d'usage, mais j'y crois.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la salle se positionner avant de révéler. Rappel : CVS 3-4, presque 16 ans, Classe II, sommeil, 3 confrères → 2 chirurgies, la maman →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MARPE au sens large, appuis dentaires inclus (Moon, Pereira-Varella) ; vérins de distalisation et effet Classe II anticipés EN SÉCURITÉ, au cas où elle refuserait la 2e chirurgie.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On se remet 5 ans en arrière. Pour moi, c'était une dinguerie. » (1er sommet, marquer un temps)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mm gagnés par le relâchement articulaire + 2 mm possibles par les vérins + un shift d'arcade → « je suis bon » ; mais très tard dans la croissance, déposer pour multibague + Forsus serait trop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Mon plan tient, je m'en sors sans extraction ni chirurgie.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pivot est enclenché, la mandibule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ans, la copine, l'appareil pas pratique pour les bisous → il veut qu'on l'enlève → il réclame la chirurgie pour ça. Mais l'appareil est VISSÉ, il ne peut pas l'enlever seul ; et vu le retard de croissance, je l'avais réglé direct en HYPER-Classe I (le coup d'avance).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extraction, sans chirurgie ; les 6 mois → 3 mois, la maman qui craque. Hyper-Classe I tenu, Classe II → quasi Classe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réagir la salle avant la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dépose en vidéo — dédramatiser.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trou de vis cicatrise sans trace. Illustration sur une autre patiente.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caricaturer l'extraction : c'est une option légitime. Mais le coût osseux n'est pas le 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sobrement.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Armature retirée sans toucher aux vis → empreinte → labo → repose ; c'est le TAD-first qui rend ça possible ; les vérins n'ont jamais servi.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lentement, avec une pause entre les deux colonnes.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Coupure de voix avant ; fait le pont avec Mathys.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Antoine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14-18 ans · 15,5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dents pas droites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Classe II · déficit transverse · troubles du sommeil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Les vis polyvalentes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29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429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antoine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298" y="1104872"/>
            <a:ext cx="3744918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528" y="6292693"/>
            <a:ext cx="49588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_antoine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0796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0796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8504" y="6292693"/>
            <a:ext cx="53090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0379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0379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4337" y="6292693"/>
            <a:ext cx="53507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193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193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4118" y="6292693"/>
            <a:ext cx="545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196045"/>
            <a:ext cx="10870928" cy="45990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9635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19635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6896" y="6292693"/>
            <a:ext cx="54251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235" y="1269175"/>
            <a:ext cx="3720764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25" y="1269175"/>
            <a:ext cx="3844307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60383" y="704832"/>
            <a:ext cx="7670608" cy="272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Maturation vertébrale — CVS 3-4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1970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4"/>
          <p:cNvSpPr/>
          <p:nvPr/>
        </p:nvSpPr>
        <p:spPr>
          <a:xfrm>
            <a:off x="101970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591" y="6292693"/>
            <a:ext cx="5418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782320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26788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chirurgies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seule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5403120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383" y="5403120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Corriger le transversal sans chirurgie à son âge — je le dis à la maman avec la réserve d'usage, mais j'y crois.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122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2122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2771" y="6292693"/>
            <a:ext cx="5266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4948709"/>
            <a:ext cx="3996431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2726165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question · à main levée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964881"/>
            <a:ext cx="8889778" cy="76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 aurait posé l'indication de 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extractions de prémolaires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? Et qui ne l'aurait pas fait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0383" y="5539244"/>
            <a:ext cx="38099" cy="442306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0383" y="5539244"/>
            <a:ext cx="6984825" cy="442306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CVS 3-4 · presque 16 ans · Classe II · sommeil — 3 confrères : 2 chirurgies, la maman : 0.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948709"/>
            <a:ext cx="3996431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Gardez votre position — j'y reviens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96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96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095" y="6292693"/>
            <a:ext cx="542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1938" y="4150514"/>
            <a:ext cx="5679735" cy="577836"/>
          </a:xfrm>
          <a:prstGeom prst="roundRect">
            <a:avLst>
              <a:gd name="adj" fmla="val 19780"/>
            </a:avLst>
          </a:prstGeom>
          <a:solidFill>
            <a:srgbClr val="3A3733"/>
          </a:solidFill>
          <a:ln/>
        </p:spPr>
      </p:sp>
      <p:pic>
        <p:nvPicPr>
          <p:cNvPr id="3" name="Image 0" descr="/home/user/Carrousel-TSS/deck/out_antoine/photos/09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323743"/>
            <a:ext cx="4777561" cy="4657807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dispositif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modifié ·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691938" y="2729340"/>
            <a:ext cx="5839374" cy="4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MARPE modifié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dentaires inclus (Moon, Pereira-Varella)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691938" y="3300231"/>
            <a:ext cx="5890172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+ amorce de l'effet Classe II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691938" y="3642825"/>
            <a:ext cx="5890172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Anticipé en sécurité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au cas où la 2e chirurgie serait refusée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691938" y="4150514"/>
            <a:ext cx="5679735" cy="577836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seul ancrage osseux, plusieurs plans possibles.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933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019933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9873" y="6292693"/>
            <a:ext cx="53953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Après l'expansion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1924200" y="3624073"/>
            <a:ext cx="281893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 — gain transverse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32886" y="3624073"/>
            <a:ext cx="295178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articulé croisé corrigé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63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63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6870" y="6292693"/>
            <a:ext cx="6025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refus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maman dit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à la 2e chirurgie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trop tard dans la croissance : déposer pour un multibague + Forsus serait trop long.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3967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 relâchement articulaire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35569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 possibles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les vérins de distalisation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77170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un shift d'arcade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« je suis bon 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8316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8316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700" y="6292693"/>
            <a:ext cx="55571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problème à l'envers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267293" y="3100806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Dépose de l'appareil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envoi au labo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3443400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Herbst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sur les 6 bagues supérieures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785994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dento-portée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inférieurs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412858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Pose des pistons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le Herbst est en place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8891" y="3547875"/>
            <a:ext cx="25066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labo / conversion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Herbst en place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L'effet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sagittal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démarre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410757" y="3624073"/>
            <a:ext cx="18457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Herbst posé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39246" y="3624073"/>
            <a:ext cx="273906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— la mandibule avance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4407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4407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4609" y="6292693"/>
            <a:ext cx="59480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Les petits caractères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je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n'avais pas prévu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324439" y="3624073"/>
            <a:ext cx="2018456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 + Herbst en bouche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18222" y="3624073"/>
            <a:ext cx="258121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/ vidéo — témoignage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38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38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4390" y="6292693"/>
            <a:ext cx="60502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3413040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4" name="Shape 2"/>
          <p:cNvSpPr/>
          <p:nvPr/>
        </p:nvSpPr>
        <p:spPr>
          <a:xfrm>
            <a:off x="6165696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5" name="Shape 3"/>
          <p:cNvSpPr/>
          <p:nvPr/>
        </p:nvSpPr>
        <p:spPr>
          <a:xfrm>
            <a:off x="8918352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pic>
        <p:nvPicPr>
          <p:cNvPr id="6" name="Image 0" descr="/home/user/Carrousel-TSS/deck/out_antoine/photos/1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539" y="3690746"/>
            <a:ext cx="158815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7" name="Image 1" descr="/home/user/Carrousel-TSS/deck/out_antoine/photos/15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895" y="3690746"/>
            <a:ext cx="158436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Fin de traitement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</a:t>
            </a:r>
            <a:endParaRPr lang="en-US" sz="2900" dirty="0"/>
          </a:p>
        </p:txBody>
      </p:sp>
      <p:sp>
        <p:nvSpPr>
          <p:cNvPr id="10" name="Text 6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II devenue quasi Classe III · hyper-Classe I tenu · sans extraction, sans chirurgie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758212" y="2313525"/>
            <a:ext cx="46810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374048" y="2313525"/>
            <a:ext cx="74174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Sourire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194072" y="2313525"/>
            <a:ext cx="60700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702557" y="2313525"/>
            <a:ext cx="109534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13662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1013662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168" y="6292693"/>
            <a:ext cx="60224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6673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Quiz · la dépose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88441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enlève les vis.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Faut-il anesthésier 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5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3732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013732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863" y="6292693"/>
            <a:ext cx="60154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La réponse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89001" y="3624073"/>
            <a:ext cx="206439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dépose des vis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5250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5250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83043" y="6292693"/>
            <a:ext cx="58636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palais après dépose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trou de vis au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 cicatrisé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sur une autre patiente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81667" y="3484376"/>
            <a:ext cx="23040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dépose — trou de vis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89678" y="3484376"/>
            <a:ext cx="203829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— site cicatrisé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36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36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366" y="6292693"/>
            <a:ext cx="602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4459" y="1285644"/>
            <a:ext cx="4246853" cy="4695906"/>
          </a:xfrm>
          <a:prstGeom prst="roundRect">
            <a:avLst>
              <a:gd name="adj" fmla="val 2990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vrai coût osseux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réponds à ceux qui auraient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67559"/>
            <a:ext cx="6370081" cy="4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pourrait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compenser + extraire 2 prémolaires — une option légitime.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538449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 de vis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cicatrise sans trace.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881043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Alvéole de prémolaire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× 7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une dizaine de sites de vis.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4223637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ortho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symétrique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2 à 4 dents saines. La vis : aucune.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5591" y="3528825"/>
            <a:ext cx="387528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Démo — alvéole vs ronds de vis à l'échelle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39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39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0144" y="6292693"/>
            <a:ext cx="599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 — 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Appareil sur vis : on dépose l'armature, on modifie, on repose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toucher aux vis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357280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TAD-last, il aurait fallu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redéposer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773294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 dont le plan peut bouger,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TAD-first = liberté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changer de dispositif en cours de route.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0130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0130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1847" y="6292693"/>
            <a:ext cx="63756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Anticiper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07937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Prévoir les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vérins de distalisation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dès la pose (sécurité, ne coûte rien).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49538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Sur-corriger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(hyper-Classe I) quand la compliance est incertaine.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91140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l'ado, on règle en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anticipant la non-compliance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labo réactif change les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conversion Herbst rapide n'a été possible que grâce à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fabrication réactive et intégrée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(SmileLab).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3597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délai rédhibitoire devient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manœuvre de quelques jours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9611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piloter la fabrication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ouvre des options cliniques.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1321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1321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43753" y="6292693"/>
            <a:ext cx="62565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TAD-first vs TAD-last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TAD-last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osseux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reste s'y adapte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retirée sans toucher aux vis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Empreinte, labo, repose : on change de cap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dernier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plan est figé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Changer de plan = souvent redémarrer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Moins d'options quand l'imprévu survient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090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090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9586" y="6292693"/>
            <a:ext cx="62982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lui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nous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chirurgies évitées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garde son visage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Respiration et sommeil corrigés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ancrage, deux plans, changement de cap sans redémarrer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clé chez l'ado dont la croissance est incertaine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4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98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0098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9367" y="6292693"/>
            <a:ext cx="640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935908"/>
            <a:ext cx="109217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chute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348648"/>
            <a:ext cx="9524762" cy="11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ancrait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Ici, elle est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polyvalente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664652"/>
            <a:ext cx="10870928" cy="82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même ancrage osseux, deux plans, sans redémarrer.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clé chez l'ado, Classe II comme Classe III.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6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01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0101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2 · Antoine</dc:title>
  <dc:subject>PptxGenJS Presentation</dc:subject>
  <dc:creator>PptxGenJS</dc:creator>
  <cp:lastModifiedBy>PptxGenJS</cp:lastModifiedBy>
  <cp:revision>1</cp:revision>
  <dcterms:created xsi:type="dcterms:W3CDTF">2026-09-07T22:02:56Z</dcterms:created>
  <dcterms:modified xsi:type="dcterms:W3CDTF">2026-09-07T22:02:56Z</dcterms:modified>
</cp:coreProperties>
</file>