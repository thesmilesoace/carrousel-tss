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[CARTON — ÉNERGIE : rassurer, socle solide + première étincelle.]
Premier patient. Un enfant en denture mixte. Le cas le plus simple en apparence — et pourtant il pose déjà toute la logique des 90 minutes. Dispositif : MARPE avec deux vis de distalisation (expansion + recul des quadrants I et II).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1 — Patient. Laisser parler les images, ne pas réciter la fiche. Poser une note humaine : c'est un enfant, on agit tôt, au bon moment.]
Mathys, denture mixte, stade A-B d'Angelieri. Motif : [le sien]. Clinique : déficit transverse, encombrement, [Classe/fonction]. Radios : pano (germes), téléradio + mesures, occlusales, CBCT.
[Émotion : ne pas dérouler une fiche — raconter un enfant, à l'âge où tout se joue.]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[Doc intra — latéral D / face / latéral G.] Occlusion, rapports transverses et sagittaux, encombrement.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[Vues occlusales — maxillaire / mandibulaire.] Forme d'arcade, déficit transverse, encombrement.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[Panoramique — denture mixte.] Germes, séquence d'éruption, bilan général.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[Téléradio + tracé + tableau.] Rapports squelettiques et dentaires ; base des mesures.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[Points 2+3 — le plan (1er point) puis LA QUESTION. Ils réfléchissent. Formulation inclusive (Hermann : ne pas paraître moralisateur).]
D'abord le plan, un seul point : MARPE + 2 vis de distalisation. On garde le pourquoi.
« Comme Arnel vient de nous le montrer, l'enjeu des vis, c'est de vaincre la résistance du maxillaire. Alors la première idée à laquelle on pourrait TOUS penser, c'est : suture ouverte, stade A-B, aucune résistance… donc pas besoin de vis. [pause] Et pourtant, on en a mis. Si on regarde de plus près… pourquoi, à votre avis ? »
[Repli sans Arnel : « On sait tous que l'intérêt premier des vis, c'est de vaincre la résistance… » — Se caler avec Arnel : sujet + ordre.]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4+5 — la science + les avantages. Cœur pédagogique, prendre le temps.]
Chez le jeune, la suture cède ; le problème c'est l'ANCRAGE — les dents de lait ne tiennent pas. La vis remplace un ancrage défaillant.
Appuis : Wilmes (dispositif pour ancrage dentaire réduit, âge moyen 11,2 ans, PMID 21490997) ; moins de bascule chez le patient en croissance (méta ≤16 ans, 10.3390/app15158326) ; protection de l'os alvéolaire (Copello, 10.1111/ocr.12374) ; distalisation sur ancrage palatin (Mohamed, 10.2319/091717-624.1).
Avantages : expansion squelettique + recul Q1/Q2 sans compensation, avant éruption des 2es molaires.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7 — tips. ÉNERGIE : creux technique, calme et précis.]
T-zone : à cet âge, ni guide ni bicortical nécessaires. 7 mm d'ancrage suffisent (à présenter comme MA pratique, pas comme un seuil sourcé). Double charge (expansion + distalisation) → stabilité primaire bicorticale critique malgré tout. Séquence : [expand puis distalise / simultané]. Vigilance : bascule distale, rotation disto-palatine, dimension verticale. Mot sur le Micro II si pertinent.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 dispositif — montrer, expliquer brièvement. La quincaillerie (marque, moteur) va dans le remis / QR, pas ici.]
Vérin central d'expansion, deux vis de distalisation pour reculer les quadrants I et II, ancrage osseux paramédian. À cet âge, 7 mm suffisent.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6 — résultats. Laisser les images prouver, parler peu.]
Avant/après : occlusales (gain transverse + recul des quadrants), profil, sourire. Évolution dans le temps.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6 — résultats. Laisser les images prouver, parler peu.]
Avant/après : occlusales (gain transverse + recul des quadrants), profil, sourire. Évolution dans le temps.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7 — tips. ÉNERGIE : creux technique, calme et précis.]
T-zone : à cet âge, ni guide ni bicortical nécessaires. 7 mm d'ancrage suffisent (à présenter comme MA pratique, pas comme un seuil sourcé). Double charge (expansion + distalisation) → stabilité primaire bicorticale critique malgré tout. Séquence : [expand puis distalise / simultané]. Vigilance : bascule distale, rotation disto-palatine, dimension verticale. Mot sur le Micro II si pertinent.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[La vidéo de pose — codes du démonstrateur (le vendeur de presse-jus) : TEMPO du geste, dédramatiser, PAS de vente. Muette, je commente en direct. Clip propre, court.]
NARRATION (par-dessus la vidéo) :
« On commence par endormir la surface. Puis quelques gouttes sur chaque site — quelques gouttes suffisent, on endort le périoste, pas l'os. On pose la vis. Le seul piège : on n'oriente pas perpendiculairement au plan sagittal — mais perpendiculairement à l'os qu'on aborde. La vis sur le tournevis, torque sur 35. Et là… pas de forcing — on ne pousse pas comme un malade, on visse. On avance… et on s'arrête net quand la tête touche la gencive. Un scan, têtes de vis nues, direction le labo. »
[Puis, si dispo : témoignage patient « je n'ai rien senti ».]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[La vidéo de pose — codes du démonstrateur (le vendeur de presse-jus) : TEMPO du geste, dédramatiser, PAS de vente. Muette, je commente en direct. Clip propre, court.]
NARRATION (par-dessus la vidéo) :
« On commence par endormir la surface. Puis quelques gouttes sur chaque site — quelques gouttes suffisent, on endort le périoste, pas l'os. On pose la vis. Le seul piège : on n'oriente pas perpendiculairement au plan sagittal — mais perpendiculairement à l'os qu'on aborde. La vis sur le tournevis, torque sur 35. Et là… pas de forcing — on ne pousse pas comme un malade, on visse. On avance… et on s'arrête net quand la tête touche la gencive. Un scan, têtes de vis nues, direction le labo. »
[Puis, si dispo : témoignage patient « je n'ai rien senti ».]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[Interaction 2 — ils votent à main levée. Rappel de la leçon + le point T-zone.]
« Pour expandre ce palais à 12 ans, l'ancrage bicortical est-il indispensable ? » [vote]
RÉVÉLATION : « Non. La résistance est quasi nulle — la vis ancre, elle ne force pas. Et il y a mieux : à cet âge, si on est dans la T-zone, on n'a même pas besoin de guide ni d'ancrage bicortical. 7 mm suffisent. À 16 ans, là, on ira volontiers chercher le bicortical — mais ça, c'est le cas suivant… » [pont vers Antoine]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[Point 8 — LA distinction qu'Hermann trouvait floue. La marquer nettement, lentement, avec une pause entre les deux colonnes. Côté patient = émotion (sa vie) ; côté ortho = clinique (ta pratique).]
« Pour lui, dans sa vie : traité au bon moment, une phase en moins, il aborde son adolescence avec une bouche fonctionnelle, il respire et dort mieux. [temps] Pour nous : un ancrage fiable même quand la denture ne suit pas, un geste simple, reproductible — et on repense la fenêtre d'intervention de toute une génération.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[LA CHUTE — marquer une coupure de voix avant (« Et si je devais résumer tout ça en une phrase… »), plus posée, plus large. Lance le cas suivant.]
« Chez l'adulte, la vis vainc l'os. Chez l'enfant, elle ne vainc rien : elle ANCRE. Même outil, deux missions. Et c'est toute l'histoire des quatre-vingt-dix minutes qui viennent.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489" y="6292693"/>
            <a:ext cx="566922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489" y="6292693"/>
            <a:ext cx="566922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image" Target="../media/image-2-3.jpg"/><Relationship Id="rId4" Type="http://schemas.openxmlformats.org/officeDocument/2006/relationships/image" Target="../media/image-2-4.jp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jp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image" Target="../media/image-11-5.jpg"/><Relationship Id="rId6" Type="http://schemas.openxmlformats.org/officeDocument/2006/relationships/image" Target="../media/image-11-6.jpg"/><Relationship Id="rId7" Type="http://schemas.openxmlformats.org/officeDocument/2006/relationships/image" Target="../media/image-11-7.jpg"/><Relationship Id="rId8" Type="http://schemas.openxmlformats.org/officeDocument/2006/relationships/image" Target="../media/image-11-8.jpg"/><Relationship Id="rId9" Type="http://schemas.openxmlformats.org/officeDocument/2006/relationships/image" Target="../media/image-11-9.jpg"/><Relationship Id="rId10" Type="http://schemas.openxmlformats.org/officeDocument/2006/relationships/image" Target="../media/image-11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image" Target="../media/image-12-5.jpg"/><Relationship Id="rId6" Type="http://schemas.openxmlformats.org/officeDocument/2006/relationships/image" Target="../media/image-12-6.jpg"/><Relationship Id="rId7" Type="http://schemas.openxmlformats.org/officeDocument/2006/relationships/image" Target="../media/image-12-7.jpg"/><Relationship Id="rId8" Type="http://schemas.openxmlformats.org/officeDocument/2006/relationships/image" Target="../media/image-12-8.jpg"/><Relationship Id="rId9" Type="http://schemas.openxmlformats.org/officeDocument/2006/relationships/image" Target="../media/image-12-9.jpg"/><Relationship Id="rId10" Type="http://schemas.openxmlformats.org/officeDocument/2006/relationships/image" Target="../media/image-12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jp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jp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0383" y="1699178"/>
            <a:ext cx="6908627" cy="247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Smile Space · Cas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60383" y="2086518"/>
            <a:ext cx="6908627" cy="933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7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Mathys</a:t>
            </a:r>
            <a:endParaRPr lang="en-US" sz="7500" dirty="0"/>
          </a:p>
        </p:txBody>
      </p:sp>
      <p:sp>
        <p:nvSpPr>
          <p:cNvPr id="4" name="Text 2"/>
          <p:cNvSpPr txBox="1"/>
          <p:nvPr/>
        </p:nvSpPr>
        <p:spPr>
          <a:xfrm>
            <a:off x="660383" y="3185041"/>
            <a:ext cx="6908627" cy="349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Denture mixte · 12,5 ans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60383" y="3635879"/>
            <a:ext cx="6908627" cy="2844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Motif de consultation —</a:t>
            </a:r>
            <a:pPr algn="l"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Encombrement dentaire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60383" y="4047329"/>
            <a:ext cx="69086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Angelieri A-B · déficit transverse · encombrement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60383" y="4434670"/>
            <a:ext cx="6908627" cy="2920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 Même outil, deux missions »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6A655C"/>
            </a:solidFill>
            <a:prstDash val="solid"/>
          </a:ln>
        </p:spPr>
      </p:sp>
      <p:pic>
        <p:nvPicPr>
          <p:cNvPr id="9" name="Image 0" descr="/home/user/Carrousel-TSS/assets/logo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0278111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8A857C"/>
            </a:solidFill>
            <a:prstDash val="dash"/>
          </a:ln>
        </p:spPr>
      </p:sp>
      <p:sp>
        <p:nvSpPr>
          <p:cNvPr id="11" name="Text 8"/>
          <p:cNvSpPr/>
          <p:nvPr/>
        </p:nvSpPr>
        <p:spPr>
          <a:xfrm>
            <a:off x="10278111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D8D2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pic>
        <p:nvPicPr>
          <p:cNvPr id="12" name="Image 1" descr="/home/user/Carrousel-TSS/assets/carrousels/mathys/exo/face_sourire_cutou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1893" y="1104872"/>
            <a:ext cx="3744323" cy="4800480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000000">
                <a:alpha val="40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8650" y="6292693"/>
            <a:ext cx="460760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photos/02_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383" y="1022324"/>
            <a:ext cx="2574861" cy="4959226"/>
          </a:xfrm>
          <a:prstGeom prst="rect">
            <a:avLst/>
          </a:prstGeom>
          <a:effectLst>
            <a:outerShdw sx="100000" sy="100000" kx="0" ky="0" algn="bl" rotWithShape="0" blurRad="114300" dist="50800" dir="5400000">
              <a:srgbClr val="2B2926">
                <a:alpha val="16000"/>
              </a:srgbClr>
            </a:outerShdw>
          </a:effectLst>
        </p:spPr>
      </p:pic>
      <p:pic>
        <p:nvPicPr>
          <p:cNvPr id="3" name="Image 1" descr="/home/user/Carrousel-TSS/deck/out/photos/02_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5739" y="1022324"/>
            <a:ext cx="2574861" cy="4959226"/>
          </a:xfrm>
          <a:prstGeom prst="rect">
            <a:avLst/>
          </a:prstGeom>
          <a:effectLst>
            <a:outerShdw sx="100000" sy="100000" kx="0" ky="0" algn="bl" rotWithShape="0" blurRad="114300" dist="50800" dir="5400000">
              <a:srgbClr val="2B2926">
                <a:alpha val="16000"/>
              </a:srgbClr>
            </a:outerShdw>
          </a:effectLst>
        </p:spPr>
      </p:pic>
      <p:pic>
        <p:nvPicPr>
          <p:cNvPr id="4" name="Image 2" descr="/home/user/Carrousel-TSS/deck/out/photos/02_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095" y="1022324"/>
            <a:ext cx="2574861" cy="4959226"/>
          </a:xfrm>
          <a:prstGeom prst="rect">
            <a:avLst/>
          </a:prstGeom>
          <a:effectLst>
            <a:outerShdw sx="100000" sy="100000" kx="0" ky="0" algn="bl" rotWithShape="0" blurRad="114300" dist="50800" dir="5400000">
              <a:srgbClr val="2B2926">
                <a:alpha val="16000"/>
              </a:srgbClr>
            </a:outerShdw>
          </a:effectLst>
        </p:spPr>
      </p:pic>
      <p:pic>
        <p:nvPicPr>
          <p:cNvPr id="5" name="Image 3" descr="/home/user/Carrousel-TSS/deck/out/photos/02_3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6451" y="1022324"/>
            <a:ext cx="2574861" cy="4959226"/>
          </a:xfrm>
          <a:prstGeom prst="rect">
            <a:avLst/>
          </a:prstGeom>
          <a:effectLst>
            <a:outerShdw sx="100000" sy="100000" kx="0" ky="0" algn="bl" rotWithShape="0" blurRad="114300" dist="50800" dir="5400000">
              <a:srgbClr val="2B2926">
                <a:alpha val="16000"/>
              </a:srgbClr>
            </a:outerShdw>
          </a:effectLst>
        </p:spPr>
      </p:pic>
      <p:sp>
        <p:nvSpPr>
          <p:cNvPr id="6" name="Text 0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1 · Documentation</a:t>
            </a:r>
            <a:endParaRPr lang="en-US" sz="1200" dirty="0"/>
          </a:p>
        </p:txBody>
      </p:sp>
      <p:sp>
        <p:nvSpPr>
          <p:cNvPr id="7" name="Shape 1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</p:sp>
      <p:pic>
        <p:nvPicPr>
          <p:cNvPr id="8" name="Image 4" descr="/home/user/Carrousel-TS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9" name="Shape 2"/>
          <p:cNvSpPr/>
          <p:nvPr/>
        </p:nvSpPr>
        <p:spPr>
          <a:xfrm>
            <a:off x="10243088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</p:sp>
      <p:sp>
        <p:nvSpPr>
          <p:cNvPr id="10" name="Text 3"/>
          <p:cNvSpPr/>
          <p:nvPr/>
        </p:nvSpPr>
        <p:spPr>
          <a:xfrm>
            <a:off x="10243088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3627" y="6292693"/>
            <a:ext cx="495784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photos/03_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383" y="2335650"/>
            <a:ext cx="3479713" cy="2319776"/>
          </a:xfrm>
          <a:prstGeom prst="rect">
            <a:avLst/>
          </a:prstGeom>
          <a:effectLst>
            <a:outerShdw sx="100000" sy="100000" kx="0" ky="0" algn="bl" rotWithShape="0" blurRad="114300" dist="50800" dir="5400000">
              <a:srgbClr val="2B2926">
                <a:alpha val="16000"/>
              </a:srgbClr>
            </a:outerShdw>
          </a:effectLst>
        </p:spPr>
      </p:pic>
      <p:pic>
        <p:nvPicPr>
          <p:cNvPr id="3" name="Image 1" descr="/home/user/Carrousel-TSS/deck/out/photos/03_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5991" y="2335650"/>
            <a:ext cx="3479713" cy="2319776"/>
          </a:xfrm>
          <a:prstGeom prst="rect">
            <a:avLst/>
          </a:prstGeom>
          <a:effectLst>
            <a:outerShdw sx="100000" sy="100000" kx="0" ky="0" algn="bl" rotWithShape="0" blurRad="114300" dist="50800" dir="5400000">
              <a:srgbClr val="2B2926">
                <a:alpha val="16000"/>
              </a:srgbClr>
            </a:outerShdw>
          </a:effectLst>
        </p:spPr>
      </p:pic>
      <p:pic>
        <p:nvPicPr>
          <p:cNvPr id="4" name="Image 2" descr="/home/user/Carrousel-TSS/deck/out/photos/03_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1599" y="2335650"/>
            <a:ext cx="3479713" cy="2319776"/>
          </a:xfrm>
          <a:prstGeom prst="rect">
            <a:avLst/>
          </a:prstGeom>
          <a:effectLst>
            <a:outerShdw sx="100000" sy="100000" kx="0" ky="0" algn="bl" rotWithShape="0" blurRad="114300" dist="50800" dir="5400000">
              <a:srgbClr val="2B2926">
                <a:alpha val="16000"/>
              </a:srgbClr>
            </a:outerShdw>
          </a:effectLst>
        </p:spPr>
      </p:pic>
      <p:sp>
        <p:nvSpPr>
          <p:cNvPr id="5" name="Text 0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1 · Documentation</a:t>
            </a:r>
            <a:endParaRPr lang="en-US" sz="1200" dirty="0"/>
          </a:p>
        </p:txBody>
      </p:sp>
      <p:sp>
        <p:nvSpPr>
          <p:cNvPr id="6" name="Shape 1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</p:sp>
      <p:pic>
        <p:nvPicPr>
          <p:cNvPr id="7" name="Image 3" descr="/home/user/Carrousel-TSS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10239020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</p:sp>
      <p:sp>
        <p:nvSpPr>
          <p:cNvPr id="9" name="Text 3"/>
          <p:cNvSpPr/>
          <p:nvPr/>
        </p:nvSpPr>
        <p:spPr>
          <a:xfrm>
            <a:off x="10239020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9559" y="6292693"/>
            <a:ext cx="499852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photos/04_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383" y="1730332"/>
            <a:ext cx="5295768" cy="3530512"/>
          </a:xfrm>
          <a:prstGeom prst="rect">
            <a:avLst/>
          </a:prstGeom>
          <a:effectLst>
            <a:outerShdw sx="100000" sy="100000" kx="0" ky="0" algn="bl" rotWithShape="0" blurRad="114300" dist="50800" dir="5400000">
              <a:srgbClr val="2B2926">
                <a:alpha val="16000"/>
              </a:srgbClr>
            </a:outerShdw>
          </a:effectLst>
        </p:spPr>
      </p:pic>
      <p:pic>
        <p:nvPicPr>
          <p:cNvPr id="3" name="Image 1" descr="/home/user/Carrousel-TSS/deck/out/photos/04_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5544" y="1730332"/>
            <a:ext cx="5295768" cy="3530512"/>
          </a:xfrm>
          <a:prstGeom prst="rect">
            <a:avLst/>
          </a:prstGeom>
          <a:effectLst>
            <a:outerShdw sx="100000" sy="100000" kx="0" ky="0" algn="bl" rotWithShape="0" blurRad="114300" dist="50800" dir="5400000">
              <a:srgbClr val="2B2926">
                <a:alpha val="16000"/>
              </a:srgbClr>
            </a:outerShdw>
          </a:effectLst>
        </p:spPr>
      </p:pic>
      <p:sp>
        <p:nvSpPr>
          <p:cNvPr id="4" name="Text 0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1 · Documentation</a:t>
            </a:r>
            <a:endParaRPr lang="en-US" sz="1200" dirty="0"/>
          </a:p>
        </p:txBody>
      </p:sp>
      <p:sp>
        <p:nvSpPr>
          <p:cNvPr id="5" name="Shape 1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</p:sp>
      <p:pic>
        <p:nvPicPr>
          <p:cNvPr id="6" name="Image 2" descr="/home/user/Carrousel-TS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10228801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</p:sp>
      <p:sp>
        <p:nvSpPr>
          <p:cNvPr id="8" name="Text 3"/>
          <p:cNvSpPr/>
          <p:nvPr/>
        </p:nvSpPr>
        <p:spPr>
          <a:xfrm>
            <a:off x="10228801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59340" y="6292693"/>
            <a:ext cx="510071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photos/05_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383" y="1216090"/>
            <a:ext cx="10870928" cy="4558996"/>
          </a:xfrm>
          <a:prstGeom prst="rect">
            <a:avLst/>
          </a:prstGeom>
          <a:effectLst>
            <a:outerShdw sx="100000" sy="100000" kx="0" ky="0" algn="bl" rotWithShape="0" blurRad="114300" dist="50800" dir="5400000">
              <a:srgbClr val="2B2926">
                <a:alpha val="16000"/>
              </a:srgbClr>
            </a:outerShdw>
          </a:effectLst>
        </p:spPr>
      </p:pic>
      <p:sp>
        <p:nvSpPr>
          <p:cNvPr id="3" name="Text 0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1 · Documentation</a:t>
            </a:r>
            <a:endParaRPr lang="en-US" sz="1200" dirty="0"/>
          </a:p>
        </p:txBody>
      </p:sp>
      <p:sp>
        <p:nvSpPr>
          <p:cNvPr id="4" name="Shape 1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</p:sp>
      <p:pic>
        <p:nvPicPr>
          <p:cNvPr id="5" name="Image 1" descr="/home/user/Carrousel-TS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0231579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</p:sp>
      <p:sp>
        <p:nvSpPr>
          <p:cNvPr id="7" name="Text 3"/>
          <p:cNvSpPr/>
          <p:nvPr/>
        </p:nvSpPr>
        <p:spPr>
          <a:xfrm>
            <a:off x="10231579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2118" y="6292693"/>
            <a:ext cx="507293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photos/06_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392" y="176109"/>
            <a:ext cx="5308451" cy="6638957"/>
          </a:xfrm>
          <a:prstGeom prst="rect">
            <a:avLst/>
          </a:prstGeom>
          <a:effectLst>
            <a:outerShdw sx="100000" sy="100000" kx="0" ky="0" algn="bl" rotWithShape="0" blurRad="114300" dist="50800" dir="5400000">
              <a:srgbClr val="2B2926">
                <a:alpha val="16000"/>
              </a:srgbClr>
            </a:outerShdw>
          </a:effectLst>
        </p:spPr>
      </p:pic>
      <p:pic>
        <p:nvPicPr>
          <p:cNvPr id="3" name="Image 1" descr="/home/user/Carrousel-TSS/deck/out/photos/06_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2847" y="309257"/>
            <a:ext cx="5308461" cy="6372760"/>
          </a:xfrm>
          <a:prstGeom prst="rect">
            <a:avLst/>
          </a:prstGeom>
          <a:effectLst>
            <a:outerShdw sx="100000" sy="100000" kx="0" ky="0" algn="bl" rotWithShape="0" blurRad="114300" dist="50800" dir="5400000">
              <a:srgbClr val="2B2926">
                <a:alpha val="16000"/>
              </a:srgbClr>
            </a:outerShdw>
          </a:effectLst>
        </p:spPr>
      </p:pic>
      <p:sp>
        <p:nvSpPr>
          <p:cNvPr id="4" name="Text 0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1 · Documentation</a:t>
            </a:r>
            <a:endParaRPr lang="en-US" sz="1200" dirty="0"/>
          </a:p>
        </p:txBody>
      </p:sp>
      <p:sp>
        <p:nvSpPr>
          <p:cNvPr id="5" name="Shape 1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</p:sp>
      <p:pic>
        <p:nvPicPr>
          <p:cNvPr id="6" name="Image 2" descr="/home/user/Carrousel-TS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10232174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</p:sp>
      <p:sp>
        <p:nvSpPr>
          <p:cNvPr id="8" name="Text 3"/>
          <p:cNvSpPr/>
          <p:nvPr/>
        </p:nvSpPr>
        <p:spPr>
          <a:xfrm>
            <a:off x="10232174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2713" y="6292693"/>
            <a:ext cx="506697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photos/07_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121" y="1820916"/>
            <a:ext cx="3943131" cy="2784108"/>
          </a:xfrm>
          <a:prstGeom prst="rect">
            <a:avLst/>
          </a:prstGeom>
          <a:effectLst>
            <a:outerShdw sx="100000" sy="100000" kx="0" ky="0" algn="bl" rotWithShape="0" blurRad="114300" dist="50800" dir="5400000">
              <a:srgbClr val="2B2926">
                <a:alpha val="16000"/>
              </a:srgbClr>
            </a:outerShdw>
          </a:effectLst>
        </p:spPr>
      </p:pic>
      <p:sp>
        <p:nvSpPr>
          <p:cNvPr id="3" name="Text 0"/>
          <p:cNvSpPr txBox="1"/>
          <p:nvPr/>
        </p:nvSpPr>
        <p:spPr>
          <a:xfrm>
            <a:off x="660383" y="2135333"/>
            <a:ext cx="1507889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Participation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660383" y="2357577"/>
            <a:ext cx="6572086" cy="1316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Suture ouverte. Stade A-B. Aucune résistance.</a:t>
            </a:r>
            <a:endParaRPr lang="en-US" sz="32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Et pourtant, des vis.</a:t>
            </a:r>
            <a:pPr algn="l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Pourquoi ?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60383" y="3712177"/>
            <a:ext cx="38099" cy="578431"/>
          </a:xfrm>
          <a:prstGeom prst="rect">
            <a:avLst/>
          </a:prstGeom>
          <a:solidFill>
            <a:srgbClr val="C3A46E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60383" y="3712177"/>
            <a:ext cx="6572086" cy="578431"/>
          </a:xfrm>
          <a:prstGeom prst="rect">
            <a:avLst/>
          </a:prstGeom>
          <a:noFill/>
          <a:ln/>
        </p:spPr>
        <p:txBody>
          <a:bodyPr wrap="square" lIns="0" tIns="215900" rIns="0" bIns="0" rtlCol="0" anchor="t"/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« La première idée à laquelle on pourrait tous penser : pas de résistance, donc pas besoin de vis… »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6A655C"/>
            </a:solidFill>
            <a:prstDash val="solid"/>
          </a:ln>
        </p:spPr>
      </p:sp>
      <p:pic>
        <p:nvPicPr>
          <p:cNvPr id="8" name="Image 1" descr="/home/user/Carrousel-TSS/assets/logo-l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0247453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8A857C"/>
            </a:solidFill>
            <a:prstDash val="dash"/>
          </a:ln>
        </p:spPr>
      </p:sp>
      <p:sp>
        <p:nvSpPr>
          <p:cNvPr id="10" name="Text 6"/>
          <p:cNvSpPr/>
          <p:nvPr/>
        </p:nvSpPr>
        <p:spPr>
          <a:xfrm>
            <a:off x="10247453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D8D2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7993" y="6292693"/>
            <a:ext cx="491418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383" y="2499952"/>
            <a:ext cx="3496580" cy="1873501"/>
          </a:xfrm>
          <a:prstGeom prst="roundRect">
            <a:avLst>
              <a:gd name="adj" fmla="val 7456"/>
            </a:avLst>
          </a:prstGeom>
          <a:solidFill>
            <a:srgbClr val="FFFFFF"/>
          </a:solidFill>
          <a:ln w="12700">
            <a:solidFill>
              <a:srgbClr val="E7E1D5"/>
            </a:solidFill>
            <a:prstDash val="solid"/>
          </a:ln>
          <a:effectLst>
            <a:outerShdw sx="100000" sy="100000" kx="0" ky="0" algn="bl" rotWithShape="0" blurRad="127000" dist="63500" dir="5400000">
              <a:srgbClr val="2B2926">
                <a:alpha val="10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4347458" y="2499952"/>
            <a:ext cx="3496679" cy="1873501"/>
          </a:xfrm>
          <a:prstGeom prst="roundRect">
            <a:avLst>
              <a:gd name="adj" fmla="val 7456"/>
            </a:avLst>
          </a:prstGeom>
          <a:solidFill>
            <a:srgbClr val="FFFFFF"/>
          </a:solidFill>
          <a:ln w="12700">
            <a:solidFill>
              <a:srgbClr val="E7E1D5"/>
            </a:solidFill>
            <a:prstDash val="solid"/>
          </a:ln>
          <a:effectLst>
            <a:outerShdw sx="100000" sy="100000" kx="0" ky="0" algn="bl" rotWithShape="0" blurRad="127000" dist="63500" dir="5400000">
              <a:srgbClr val="2B2926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034633" y="2499952"/>
            <a:ext cx="3496679" cy="1640343"/>
          </a:xfrm>
          <a:prstGeom prst="roundRect">
            <a:avLst>
              <a:gd name="adj" fmla="val 8516"/>
            </a:avLst>
          </a:prstGeom>
          <a:solidFill>
            <a:srgbClr val="FFFFFF"/>
          </a:solidFill>
          <a:ln w="12700">
            <a:solidFill>
              <a:srgbClr val="E7E1D5"/>
            </a:solidFill>
            <a:prstDash val="solid"/>
          </a:ln>
          <a:effectLst>
            <a:outerShdw sx="100000" sy="100000" kx="0" ky="0" algn="bl" rotWithShape="0" blurRad="127000" dist="63500" dir="5400000">
              <a:srgbClr val="2B2926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5328" y="2747596"/>
            <a:ext cx="419090" cy="419090"/>
          </a:xfrm>
          <a:prstGeom prst="roundRect">
            <a:avLst>
              <a:gd name="adj" fmla="val 24242"/>
            </a:avLst>
          </a:prstGeom>
          <a:solidFill>
            <a:srgbClr val="3A3733"/>
          </a:solidFill>
          <a:ln/>
        </p:spPr>
      </p:sp>
      <p:sp>
        <p:nvSpPr>
          <p:cNvPr id="6" name="Shape 4"/>
          <p:cNvSpPr/>
          <p:nvPr/>
        </p:nvSpPr>
        <p:spPr>
          <a:xfrm>
            <a:off x="4582403" y="2747596"/>
            <a:ext cx="419090" cy="419090"/>
          </a:xfrm>
          <a:prstGeom prst="roundRect">
            <a:avLst>
              <a:gd name="adj" fmla="val 24242"/>
            </a:avLst>
          </a:prstGeom>
          <a:solidFill>
            <a:srgbClr val="3A3733"/>
          </a:solidFill>
          <a:ln/>
        </p:spPr>
      </p:sp>
      <p:sp>
        <p:nvSpPr>
          <p:cNvPr id="7" name="Shape 5"/>
          <p:cNvSpPr/>
          <p:nvPr/>
        </p:nvSpPr>
        <p:spPr>
          <a:xfrm>
            <a:off x="8269577" y="2747596"/>
            <a:ext cx="419090" cy="419090"/>
          </a:xfrm>
          <a:prstGeom prst="roundRect">
            <a:avLst>
              <a:gd name="adj" fmla="val 24242"/>
            </a:avLst>
          </a:prstGeom>
          <a:solidFill>
            <a:srgbClr val="3A3733"/>
          </a:solidFill>
          <a:ln/>
        </p:spPr>
      </p:sp>
      <p:sp>
        <p:nvSpPr>
          <p:cNvPr id="8" name="Shape 6"/>
          <p:cNvSpPr/>
          <p:nvPr/>
        </p:nvSpPr>
        <p:spPr>
          <a:xfrm>
            <a:off x="660383" y="5689458"/>
            <a:ext cx="2275624" cy="292093"/>
          </a:xfrm>
          <a:prstGeom prst="roundRect">
            <a:avLst>
              <a:gd name="adj" fmla="val 50000"/>
            </a:avLst>
          </a:prstGeom>
          <a:solidFill>
            <a:srgbClr val="F0EBE1"/>
          </a:solidFill>
          <a:ln w="12700">
            <a:solidFill>
              <a:srgbClr val="E1D9C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24906" y="5689458"/>
            <a:ext cx="2736087" cy="292093"/>
          </a:xfrm>
          <a:prstGeom prst="roundRect">
            <a:avLst>
              <a:gd name="adj" fmla="val 50000"/>
            </a:avLst>
          </a:prstGeom>
          <a:solidFill>
            <a:srgbClr val="F0EBE1"/>
          </a:solidFill>
          <a:ln w="12700">
            <a:solidFill>
              <a:srgbClr val="E1D9C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849890" y="5689458"/>
            <a:ext cx="2347953" cy="292093"/>
          </a:xfrm>
          <a:prstGeom prst="roundRect">
            <a:avLst>
              <a:gd name="adj" fmla="val 50000"/>
            </a:avLst>
          </a:prstGeom>
          <a:solidFill>
            <a:srgbClr val="F0EBE1"/>
          </a:solidFill>
          <a:ln w="12700">
            <a:solidFill>
              <a:srgbClr val="E1D9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86741" y="5689458"/>
            <a:ext cx="2799585" cy="292093"/>
          </a:xfrm>
          <a:prstGeom prst="roundRect">
            <a:avLst>
              <a:gd name="adj" fmla="val 50000"/>
            </a:avLst>
          </a:prstGeom>
          <a:solidFill>
            <a:srgbClr val="F0EBE1"/>
          </a:solidFill>
          <a:ln w="12700">
            <a:solidFill>
              <a:srgbClr val="E1D9C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1 · La réponse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60383" y="742931"/>
            <a:ext cx="10921727" cy="390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Ancrage</a:t>
            </a:r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vs résistance.</a:t>
            </a:r>
            <a:endParaRPr lang="en-US" sz="2900" dirty="0"/>
          </a:p>
        </p:txBody>
      </p:sp>
      <p:sp>
        <p:nvSpPr>
          <p:cNvPr id="14" name="Text 12"/>
          <p:cNvSpPr txBox="1"/>
          <p:nvPr/>
        </p:nvSpPr>
        <p:spPr>
          <a:xfrm>
            <a:off x="895328" y="3331782"/>
            <a:ext cx="3077490" cy="238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65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suture cède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4582403" y="3331782"/>
            <a:ext cx="3077589" cy="238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65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 vrai problème : l'ancrage</a:t>
            </a:r>
            <a:endParaRPr lang="en-US" sz="1650" dirty="0"/>
          </a:p>
        </p:txBody>
      </p:sp>
      <p:sp>
        <p:nvSpPr>
          <p:cNvPr id="16" name="Text 14"/>
          <p:cNvSpPr txBox="1"/>
          <p:nvPr/>
        </p:nvSpPr>
        <p:spPr>
          <a:xfrm>
            <a:off x="8269577" y="3331782"/>
            <a:ext cx="3077589" cy="238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65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vis ne force pas l'os</a:t>
            </a:r>
            <a:endParaRPr lang="en-US" sz="1650" dirty="0"/>
          </a:p>
        </p:txBody>
      </p:sp>
      <p:sp>
        <p:nvSpPr>
          <p:cNvPr id="17" name="Text 15"/>
          <p:cNvSpPr txBox="1"/>
          <p:nvPr/>
        </p:nvSpPr>
        <p:spPr>
          <a:xfrm>
            <a:off x="895328" y="3659493"/>
            <a:ext cx="3026692" cy="466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6000"/>
              </a:lnSpc>
              <a:buNone/>
            </a:pPr>
            <a:r>
              <a:rPr lang="en-US" sz="135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À cet âge elle est ouverte — elle ne résiste pas.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582403" y="3659493"/>
            <a:ext cx="3026791" cy="466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6000"/>
              </a:lnSpc>
              <a:buNone/>
            </a:pPr>
            <a:r>
              <a:rPr lang="en-US" sz="135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 dents de lait ne tiennent pas les forces.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8269577" y="3659493"/>
            <a:ext cx="3077589" cy="233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36000"/>
              </a:lnSpc>
              <a:buNone/>
            </a:pPr>
            <a:r>
              <a:rPr lang="en-US" sz="135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Elle remplace un ancrage défaillant.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895328" y="2747596"/>
            <a:ext cx="419090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4582403" y="2747596"/>
            <a:ext cx="419090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8269577" y="2747596"/>
            <a:ext cx="419090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60383" y="5689458"/>
            <a:ext cx="2275624" cy="292093"/>
          </a:xfrm>
          <a:prstGeom prst="rect">
            <a:avLst/>
          </a:prstGeom>
          <a:noFill/>
          <a:ln/>
        </p:spPr>
        <p:txBody>
          <a:bodyPr wrap="square" lIns="57150" tIns="127000" rIns="1270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A37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Wilmes 2010 · PMID 21490997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024906" y="5689458"/>
            <a:ext cx="2736087" cy="292093"/>
          </a:xfrm>
          <a:prstGeom prst="rect">
            <a:avLst/>
          </a:prstGeom>
          <a:noFill/>
          <a:ln/>
        </p:spPr>
        <p:txBody>
          <a:bodyPr wrap="square" lIns="57150" tIns="127000" rIns="1270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A37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Méta ≤16 ans · 10.3390/app15158326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849890" y="5689458"/>
            <a:ext cx="2347953" cy="292093"/>
          </a:xfrm>
          <a:prstGeom prst="rect">
            <a:avLst/>
          </a:prstGeom>
          <a:noFill/>
          <a:ln/>
        </p:spPr>
        <p:txBody>
          <a:bodyPr wrap="square" lIns="57150" tIns="127000" rIns="1270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A37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Copello 2020 · 10.1111/ocr.12374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286741" y="5689458"/>
            <a:ext cx="2799585" cy="292093"/>
          </a:xfrm>
          <a:prstGeom prst="rect">
            <a:avLst/>
          </a:prstGeom>
          <a:noFill/>
          <a:ln/>
        </p:spPr>
        <p:txBody>
          <a:bodyPr wrap="square" lIns="57150" tIns="127000" rIns="1270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A37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Mohamed 2018 · 10.2319/091717-624.1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</p:sp>
      <p:pic>
        <p:nvPicPr>
          <p:cNvPr id="28" name="Image 0" descr="/home/user/Carrousel-TS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10231678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</p:sp>
      <p:sp>
        <p:nvSpPr>
          <p:cNvPr id="30" name="Text 27"/>
          <p:cNvSpPr/>
          <p:nvPr/>
        </p:nvSpPr>
        <p:spPr>
          <a:xfrm>
            <a:off x="10231678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2217" y="6292693"/>
            <a:ext cx="507194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photos/09_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421" y="1513048"/>
            <a:ext cx="4268111" cy="2890368"/>
          </a:xfrm>
          <a:prstGeom prst="rect">
            <a:avLst/>
          </a:prstGeom>
          <a:effectLst>
            <a:outerShdw sx="100000" sy="100000" kx="0" ky="0" algn="bl" rotWithShape="0" blurRad="114300" dist="50800" dir="5400000">
              <a:srgbClr val="2B2926">
                <a:alpha val="16000"/>
              </a:srgbClr>
            </a:outerShdw>
          </a:effectLst>
        </p:spPr>
      </p:pic>
      <p:pic>
        <p:nvPicPr>
          <p:cNvPr id="3" name="Image 1" descr="/home/user/Carrousel-TSS/deck/out/photos/09_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8313" y="1543210"/>
            <a:ext cx="3161529" cy="2830045"/>
          </a:xfrm>
          <a:prstGeom prst="rect">
            <a:avLst/>
          </a:prstGeom>
          <a:effectLst>
            <a:outerShdw sx="100000" sy="100000" kx="0" ky="0" algn="bl" rotWithShape="0" blurRad="114300" dist="50800" dir="5400000">
              <a:srgbClr val="2B2926">
                <a:alpha val="16000"/>
              </a:srgbClr>
            </a:outerShdw>
          </a:effectLst>
        </p:spPr>
      </p:pic>
      <p:pic>
        <p:nvPicPr>
          <p:cNvPr id="4" name="Image 2" descr="/home/user/Carrousel-TSS/deck/out/photos/09_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9645" y="2242188"/>
            <a:ext cx="3161609" cy="1432088"/>
          </a:xfrm>
          <a:prstGeom prst="rect">
            <a:avLst/>
          </a:prstGeom>
          <a:effectLst>
            <a:outerShdw sx="100000" sy="100000" kx="0" ky="0" algn="bl" rotWithShape="0" blurRad="114300" dist="50800" dir="5400000">
              <a:srgbClr val="2B2926">
                <a:alpha val="16000"/>
              </a:srgbClr>
            </a:outerShdw>
          </a:effectLst>
        </p:spPr>
      </p:pic>
      <p:pic>
        <p:nvPicPr>
          <p:cNvPr id="5" name="Image 3" descr="/home/user/Carrousel-TSS/deck/out/photos/09_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383" y="4775081"/>
            <a:ext cx="1206470" cy="1206470"/>
          </a:xfrm>
          <a:prstGeom prst="rect">
            <a:avLst/>
          </a:prstGeom>
          <a:effectLst>
            <a:outerShdw sx="100000" sy="100000" kx="0" ky="0" algn="bl" rotWithShape="0" blurRad="114300" dist="50800" dir="5400000">
              <a:srgbClr val="2B2926">
                <a:alpha val="16000"/>
              </a:srgbClr>
            </a:outerShdw>
          </a:effectLst>
        </p:spPr>
      </p:pic>
      <p:sp>
        <p:nvSpPr>
          <p:cNvPr id="6" name="Text 0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1 · Sites d'insertion</a:t>
            </a:r>
            <a:endParaRPr lang="en-US" sz="1200" dirty="0"/>
          </a:p>
        </p:txBody>
      </p:sp>
      <p:sp>
        <p:nvSpPr>
          <p:cNvPr id="7" name="Text 1"/>
          <p:cNvSpPr txBox="1"/>
          <p:nvPr/>
        </p:nvSpPr>
        <p:spPr>
          <a:xfrm>
            <a:off x="660383" y="717532"/>
            <a:ext cx="10921727" cy="3095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3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À 12 ans : </a:t>
            </a:r>
            <a:pPr algn="l" indent="0" marL="0">
              <a:lnSpc>
                <a:spcPct val="106000"/>
              </a:lnSpc>
              <a:buNone/>
            </a:pPr>
            <a:r>
              <a:rPr lang="en-US" sz="23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mm suffisent</a:t>
            </a:r>
            <a:pPr algn="l" indent="0" marL="0">
              <a:lnSpc>
                <a:spcPct val="106000"/>
              </a:lnSpc>
              <a:buNone/>
            </a:pPr>
            <a:r>
              <a:rPr lang="en-US" sz="23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2300" dirty="0"/>
          </a:p>
        </p:txBody>
      </p:sp>
      <p:sp>
        <p:nvSpPr>
          <p:cNvPr id="8" name="Text 2"/>
          <p:cNvSpPr txBox="1"/>
          <p:nvPr/>
        </p:nvSpPr>
        <p:spPr>
          <a:xfrm>
            <a:off x="2057349" y="5058343"/>
            <a:ext cx="5206870" cy="639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T-zone —</a:t>
            </a:r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A65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ni guide, ni ancrage bicortical indispensables à cet âge.</a:t>
            </a:r>
            <a:endParaRPr lang="en-US" sz="1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Tarraf &amp; Wilmes</a:t>
            </a:r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A65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Semin Orthod 2024 — CC BY 4.0, avec l'aimable autorisation du Pr Wilmes.</a:t>
            </a:r>
            <a:endParaRPr lang="en-US" sz="1200" dirty="0"/>
          </a:p>
        </p:txBody>
      </p:sp>
      <p:sp>
        <p:nvSpPr>
          <p:cNvPr id="9" name="Shape 3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</p:sp>
      <p:pic>
        <p:nvPicPr>
          <p:cNvPr id="10" name="Image 4" descr="/home/user/Carrousel-TS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10234555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</p:sp>
      <p:sp>
        <p:nvSpPr>
          <p:cNvPr id="12" name="Text 5"/>
          <p:cNvSpPr/>
          <p:nvPr/>
        </p:nvSpPr>
        <p:spPr>
          <a:xfrm>
            <a:off x="10234555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5094" y="6292693"/>
            <a:ext cx="504316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91938" y="3912494"/>
            <a:ext cx="5839374" cy="825479"/>
          </a:xfrm>
          <a:prstGeom prst="roundRect">
            <a:avLst>
              <a:gd name="adj" fmla="val 13846"/>
            </a:avLst>
          </a:prstGeom>
          <a:solidFill>
            <a:srgbClr val="3A3733"/>
          </a:solidFill>
          <a:ln/>
        </p:spPr>
      </p:sp>
      <p:pic>
        <p:nvPicPr>
          <p:cNvPr id="3" name="Image 0" descr="/home/user/Carrousel-TSS/deck/out/photos/10_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383" y="2060636"/>
            <a:ext cx="4777561" cy="3184021"/>
          </a:xfrm>
          <a:prstGeom prst="rect">
            <a:avLst/>
          </a:prstGeom>
          <a:effectLst>
            <a:outerShdw sx="100000" sy="100000" kx="0" ky="0" algn="bl" rotWithShape="0" blurRad="114300" dist="50800" dir="5400000">
              <a:srgbClr val="2B2926">
                <a:alpha val="16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1 · Le dispositif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60383" y="742931"/>
            <a:ext cx="10921727" cy="390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MARPE + 2 vérins de </a:t>
            </a:r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distalisation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691938" y="2719617"/>
            <a:ext cx="5890172" cy="228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Vérin central</a:t>
            </a:r>
            <a:pPr algn="l"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pPr algn="l"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expansion transverse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5691938" y="3062211"/>
            <a:ext cx="5890172" cy="228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vérins de distalisation</a:t>
            </a:r>
            <a:pPr algn="l"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pPr algn="l"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recul des quadrants I &amp; II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691938" y="3404805"/>
            <a:ext cx="5890172" cy="228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Ancrage osseux paramédian</a:t>
            </a:r>
            <a:pPr algn="l"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pPr algn="l"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en arrière des incisives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5691938" y="3912494"/>
            <a:ext cx="5839374" cy="825479"/>
          </a:xfrm>
          <a:prstGeom prst="rect">
            <a:avLst/>
          </a:prstGeom>
          <a:noFill/>
          <a:ln/>
        </p:spPr>
        <p:txBody>
          <a:bodyPr wrap="square" lIns="165100" tIns="215900" rIns="21590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À cet âge —</a:t>
            </a:r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7 mm d'ancrage osseux suffisent (faible résistance suturale).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</p:sp>
      <p:pic>
        <p:nvPicPr>
          <p:cNvPr id="11" name="Image 1" descr="/home/user/Carrousel-TS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10171454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</p:sp>
      <p:sp>
        <p:nvSpPr>
          <p:cNvPr id="13" name="Text 9"/>
          <p:cNvSpPr/>
          <p:nvPr/>
        </p:nvSpPr>
        <p:spPr>
          <a:xfrm>
            <a:off x="10171454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1993" y="6292693"/>
            <a:ext cx="567418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photos/11_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0359" y="1450740"/>
            <a:ext cx="2138994" cy="1425539"/>
          </a:xfrm>
          <a:prstGeom prst="rect">
            <a:avLst/>
          </a:prstGeom>
          <a:effectLst>
            <a:outerShdw sx="100000" sy="100000" kx="0" ky="0" algn="bl" rotWithShape="0" blurRad="114300" dist="50800" dir="5400000">
              <a:srgbClr val="2B2926">
                <a:alpha val="16000"/>
              </a:srgbClr>
            </a:outerShdw>
          </a:effectLst>
        </p:spPr>
      </p:pic>
      <p:pic>
        <p:nvPicPr>
          <p:cNvPr id="3" name="Image 1" descr="/home/user/Carrousel-TSS/deck/out/photos/11_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5972" y="1450740"/>
            <a:ext cx="2139651" cy="1425539"/>
          </a:xfrm>
          <a:prstGeom prst="rect">
            <a:avLst/>
          </a:prstGeom>
          <a:effectLst>
            <a:outerShdw sx="100000" sy="100000" kx="0" ky="0" algn="bl" rotWithShape="0" blurRad="114300" dist="50800" dir="5400000">
              <a:srgbClr val="2B2926">
                <a:alpha val="16000"/>
              </a:srgbClr>
            </a:outerShdw>
          </a:effectLst>
        </p:spPr>
      </p:pic>
      <p:pic>
        <p:nvPicPr>
          <p:cNvPr id="4" name="Image 2" descr="/home/user/Carrousel-TSS/deck/out/photos/11_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1917" y="1450740"/>
            <a:ext cx="2139646" cy="1425539"/>
          </a:xfrm>
          <a:prstGeom prst="rect">
            <a:avLst/>
          </a:prstGeom>
          <a:effectLst>
            <a:outerShdw sx="100000" sy="100000" kx="0" ky="0" algn="bl" rotWithShape="0" blurRad="114300" dist="50800" dir="5400000">
              <a:srgbClr val="2B2926">
                <a:alpha val="16000"/>
              </a:srgbClr>
            </a:outerShdw>
          </a:effectLst>
        </p:spPr>
      </p:pic>
      <p:pic>
        <p:nvPicPr>
          <p:cNvPr id="5" name="Image 3" descr="/home/user/Carrousel-TSS/deck/out/photos/11_3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0961" y="3003276"/>
            <a:ext cx="2137790" cy="1425639"/>
          </a:xfrm>
          <a:prstGeom prst="rect">
            <a:avLst/>
          </a:prstGeom>
          <a:effectLst>
            <a:outerShdw sx="100000" sy="100000" kx="0" ky="0" algn="bl" rotWithShape="0" blurRad="114300" dist="50800" dir="5400000">
              <a:srgbClr val="2B2926">
                <a:alpha val="16000"/>
              </a:srgbClr>
            </a:outerShdw>
          </a:effectLst>
        </p:spPr>
      </p:pic>
      <p:pic>
        <p:nvPicPr>
          <p:cNvPr id="6" name="Image 4" descr="/home/user/Carrousel-TSS/deck/out/photos/11_4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6569" y="3003276"/>
            <a:ext cx="2138458" cy="1425639"/>
          </a:xfrm>
          <a:prstGeom prst="rect">
            <a:avLst/>
          </a:prstGeom>
          <a:effectLst>
            <a:outerShdw sx="100000" sy="100000" kx="0" ky="0" algn="bl" rotWithShape="0" blurRad="114300" dist="50800" dir="5400000">
              <a:srgbClr val="2B2926">
                <a:alpha val="16000"/>
              </a:srgbClr>
            </a:outerShdw>
          </a:effectLst>
        </p:spPr>
      </p:pic>
      <p:pic>
        <p:nvPicPr>
          <p:cNvPr id="7" name="Image 5" descr="/home/user/Carrousel-TSS/deck/out/photos/11_5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3195" y="3003276"/>
            <a:ext cx="2137090" cy="1425639"/>
          </a:xfrm>
          <a:prstGeom prst="rect">
            <a:avLst/>
          </a:prstGeom>
          <a:effectLst>
            <a:outerShdw sx="100000" sy="100000" kx="0" ky="0" algn="bl" rotWithShape="0" blurRad="114300" dist="50800" dir="5400000">
              <a:srgbClr val="2B2926">
                <a:alpha val="16000"/>
              </a:srgbClr>
            </a:outerShdw>
          </a:effectLst>
        </p:spPr>
      </p:pic>
      <p:pic>
        <p:nvPicPr>
          <p:cNvPr id="8" name="Image 6" descr="/home/user/Carrousel-TSS/deck/out/photos/11_6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59958" y="4555912"/>
            <a:ext cx="2139795" cy="1425639"/>
          </a:xfrm>
          <a:prstGeom prst="rect">
            <a:avLst/>
          </a:prstGeom>
          <a:effectLst>
            <a:outerShdw sx="100000" sy="100000" kx="0" ky="0" algn="bl" rotWithShape="0" blurRad="114300" dist="50800" dir="5400000">
              <a:srgbClr val="2B2926">
                <a:alpha val="16000"/>
              </a:srgbClr>
            </a:outerShdw>
          </a:effectLst>
        </p:spPr>
      </p:pic>
      <p:pic>
        <p:nvPicPr>
          <p:cNvPr id="9" name="Image 7" descr="/home/user/Carrousel-TSS/deck/out/photos/11_7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5900" y="4555912"/>
            <a:ext cx="2139795" cy="1425639"/>
          </a:xfrm>
          <a:prstGeom prst="rect">
            <a:avLst/>
          </a:prstGeom>
          <a:effectLst>
            <a:outerShdw sx="100000" sy="100000" kx="0" ky="0" algn="bl" rotWithShape="0" blurRad="114300" dist="50800" dir="5400000">
              <a:srgbClr val="2B2926">
                <a:alpha val="16000"/>
              </a:srgbClr>
            </a:outerShdw>
          </a:effectLst>
        </p:spPr>
      </p:pic>
      <p:pic>
        <p:nvPicPr>
          <p:cNvPr id="10" name="Image 8" descr="/home/user/Carrousel-TSS/deck/out/photos/11_8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91842" y="4555912"/>
            <a:ext cx="2139795" cy="1425639"/>
          </a:xfrm>
          <a:prstGeom prst="rect">
            <a:avLst/>
          </a:prstGeom>
          <a:effectLst>
            <a:outerShdw sx="100000" sy="100000" kx="0" ky="0" algn="bl" rotWithShape="0" blurRad="114300" dist="50800" dir="5400000">
              <a:srgbClr val="2B2926">
                <a:alpha val="16000"/>
              </a:srgbClr>
            </a:outerShdw>
          </a:effectLst>
        </p:spPr>
      </p:pic>
      <p:sp>
        <p:nvSpPr>
          <p:cNvPr id="11" name="Text 0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1 · Evolution</a:t>
            </a:r>
            <a:endParaRPr lang="en-US" sz="1200" dirty="0"/>
          </a:p>
        </p:txBody>
      </p:sp>
      <p:sp>
        <p:nvSpPr>
          <p:cNvPr id="12" name="Text 1"/>
          <p:cNvSpPr txBox="1"/>
          <p:nvPr/>
        </p:nvSpPr>
        <p:spPr>
          <a:xfrm>
            <a:off x="660383" y="742931"/>
            <a:ext cx="10921727" cy="390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Occlusal maxillaire — </a:t>
            </a:r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 dispositif au résultat</a:t>
            </a:r>
            <a:endParaRPr lang="en-US" sz="2900" dirty="0"/>
          </a:p>
        </p:txBody>
      </p:sp>
      <p:sp>
        <p:nvSpPr>
          <p:cNvPr id="13" name="Shape 2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</p:sp>
      <p:pic>
        <p:nvPicPr>
          <p:cNvPr id="14" name="Image 9" descr="/home/user/Carrousel-TSS/assets/logo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15" name="Shape 3"/>
          <p:cNvSpPr/>
          <p:nvPr/>
        </p:nvSpPr>
        <p:spPr>
          <a:xfrm>
            <a:off x="10218383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</p:sp>
      <p:sp>
        <p:nvSpPr>
          <p:cNvPr id="16" name="Text 4"/>
          <p:cNvSpPr/>
          <p:nvPr/>
        </p:nvSpPr>
        <p:spPr>
          <a:xfrm>
            <a:off x="10218383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8922" y="6292693"/>
            <a:ext cx="520489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photos/12_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59996" y="1450740"/>
            <a:ext cx="2139720" cy="1425539"/>
          </a:xfrm>
          <a:prstGeom prst="rect">
            <a:avLst/>
          </a:prstGeom>
          <a:effectLst>
            <a:outerShdw sx="100000" sy="100000" kx="0" ky="0" algn="bl" rotWithShape="0" blurRad="114300" dist="50800" dir="5400000">
              <a:srgbClr val="2B2926">
                <a:alpha val="16000"/>
              </a:srgbClr>
            </a:outerShdw>
          </a:effectLst>
        </p:spPr>
      </p:pic>
      <p:pic>
        <p:nvPicPr>
          <p:cNvPr id="3" name="Image 1" descr="/home/user/Carrousel-TSS/deck/out/photos/12_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6283" y="1450740"/>
            <a:ext cx="2139030" cy="1425539"/>
          </a:xfrm>
          <a:prstGeom prst="rect">
            <a:avLst/>
          </a:prstGeom>
          <a:effectLst>
            <a:outerShdw sx="100000" sy="100000" kx="0" ky="0" algn="bl" rotWithShape="0" blurRad="114300" dist="50800" dir="5400000">
              <a:srgbClr val="2B2926">
                <a:alpha val="16000"/>
              </a:srgbClr>
            </a:outerShdw>
          </a:effectLst>
        </p:spPr>
      </p:pic>
      <p:pic>
        <p:nvPicPr>
          <p:cNvPr id="4" name="Image 2" descr="/home/user/Carrousel-TSS/deck/out/photos/12_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1917" y="1450740"/>
            <a:ext cx="2139646" cy="1425539"/>
          </a:xfrm>
          <a:prstGeom prst="rect">
            <a:avLst/>
          </a:prstGeom>
          <a:effectLst>
            <a:outerShdw sx="100000" sy="100000" kx="0" ky="0" algn="bl" rotWithShape="0" blurRad="114300" dist="50800" dir="5400000">
              <a:srgbClr val="2B2926">
                <a:alpha val="16000"/>
              </a:srgbClr>
            </a:outerShdw>
          </a:effectLst>
        </p:spPr>
      </p:pic>
      <p:pic>
        <p:nvPicPr>
          <p:cNvPr id="5" name="Image 3" descr="/home/user/Carrousel-TSS/deck/out/photos/12_3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9958" y="3003276"/>
            <a:ext cx="2139795" cy="1425639"/>
          </a:xfrm>
          <a:prstGeom prst="rect">
            <a:avLst/>
          </a:prstGeom>
          <a:effectLst>
            <a:outerShdw sx="100000" sy="100000" kx="0" ky="0" algn="bl" rotWithShape="0" blurRad="114300" dist="50800" dir="5400000">
              <a:srgbClr val="2B2926">
                <a:alpha val="16000"/>
              </a:srgbClr>
            </a:outerShdw>
          </a:effectLst>
        </p:spPr>
      </p:pic>
      <p:pic>
        <p:nvPicPr>
          <p:cNvPr id="6" name="Image 4" descr="/home/user/Carrousel-TSS/deck/out/photos/12_4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7262" y="3003276"/>
            <a:ext cx="2137071" cy="1425639"/>
          </a:xfrm>
          <a:prstGeom prst="rect">
            <a:avLst/>
          </a:prstGeom>
          <a:effectLst>
            <a:outerShdw sx="100000" sy="100000" kx="0" ky="0" algn="bl" rotWithShape="0" blurRad="114300" dist="50800" dir="5400000">
              <a:srgbClr val="2B2926">
                <a:alpha val="16000"/>
              </a:srgbClr>
            </a:outerShdw>
          </a:effectLst>
        </p:spPr>
      </p:pic>
      <p:pic>
        <p:nvPicPr>
          <p:cNvPr id="7" name="Image 5" descr="/home/user/Carrousel-TSS/deck/out/photos/12_5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1823" y="3003276"/>
            <a:ext cx="2139834" cy="1425639"/>
          </a:xfrm>
          <a:prstGeom prst="rect">
            <a:avLst/>
          </a:prstGeom>
          <a:effectLst>
            <a:outerShdw sx="100000" sy="100000" kx="0" ky="0" algn="bl" rotWithShape="0" blurRad="114300" dist="50800" dir="5400000">
              <a:srgbClr val="2B2926">
                <a:alpha val="16000"/>
              </a:srgbClr>
            </a:outerShdw>
          </a:effectLst>
        </p:spPr>
      </p:pic>
      <p:pic>
        <p:nvPicPr>
          <p:cNvPr id="8" name="Image 6" descr="/home/user/Carrousel-TSS/deck/out/photos/12_6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59917" y="4555912"/>
            <a:ext cx="2139878" cy="1425639"/>
          </a:xfrm>
          <a:prstGeom prst="rect">
            <a:avLst/>
          </a:prstGeom>
          <a:effectLst>
            <a:outerShdw sx="100000" sy="100000" kx="0" ky="0" algn="bl" rotWithShape="0" blurRad="114300" dist="50800" dir="5400000">
              <a:srgbClr val="2B2926">
                <a:alpha val="16000"/>
              </a:srgbClr>
            </a:outerShdw>
          </a:effectLst>
        </p:spPr>
      </p:pic>
      <p:pic>
        <p:nvPicPr>
          <p:cNvPr id="9" name="Image 7" descr="/home/user/Carrousel-TSS/deck/out/photos/12_7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5900" y="4555912"/>
            <a:ext cx="2139795" cy="1425639"/>
          </a:xfrm>
          <a:prstGeom prst="rect">
            <a:avLst/>
          </a:prstGeom>
          <a:effectLst>
            <a:outerShdw sx="100000" sy="100000" kx="0" ky="0" algn="bl" rotWithShape="0" blurRad="114300" dist="50800" dir="5400000">
              <a:srgbClr val="2B2926">
                <a:alpha val="16000"/>
              </a:srgbClr>
            </a:outerShdw>
          </a:effectLst>
        </p:spPr>
      </p:pic>
      <p:pic>
        <p:nvPicPr>
          <p:cNvPr id="10" name="Image 8" descr="/home/user/Carrousel-TSS/deck/out/photos/12_8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18272" y="4555912"/>
            <a:ext cx="2086937" cy="1425639"/>
          </a:xfrm>
          <a:prstGeom prst="rect">
            <a:avLst/>
          </a:prstGeom>
          <a:effectLst>
            <a:outerShdw sx="100000" sy="100000" kx="0" ky="0" algn="bl" rotWithShape="0" blurRad="114300" dist="50800" dir="5400000">
              <a:srgbClr val="2B2926">
                <a:alpha val="16000"/>
              </a:srgbClr>
            </a:outerShdw>
          </a:effectLst>
        </p:spPr>
      </p:pic>
      <p:sp>
        <p:nvSpPr>
          <p:cNvPr id="11" name="Text 0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1 · Evolution</a:t>
            </a:r>
            <a:endParaRPr lang="en-US" sz="1200" dirty="0"/>
          </a:p>
        </p:txBody>
      </p:sp>
      <p:sp>
        <p:nvSpPr>
          <p:cNvPr id="12" name="Text 1"/>
          <p:cNvSpPr txBox="1"/>
          <p:nvPr/>
        </p:nvSpPr>
        <p:spPr>
          <a:xfrm>
            <a:off x="660383" y="742931"/>
            <a:ext cx="10921727" cy="390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Occlusal — </a:t>
            </a:r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séquence complète</a:t>
            </a:r>
            <a:endParaRPr lang="en-US" sz="2900" dirty="0"/>
          </a:p>
        </p:txBody>
      </p:sp>
      <p:sp>
        <p:nvSpPr>
          <p:cNvPr id="13" name="Shape 2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</p:sp>
      <p:pic>
        <p:nvPicPr>
          <p:cNvPr id="14" name="Image 9" descr="/home/user/Carrousel-TSS/assets/logo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15" name="Shape 3"/>
          <p:cNvSpPr/>
          <p:nvPr/>
        </p:nvSpPr>
        <p:spPr>
          <a:xfrm>
            <a:off x="10183359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</p:sp>
      <p:sp>
        <p:nvSpPr>
          <p:cNvPr id="16" name="Text 4"/>
          <p:cNvSpPr/>
          <p:nvPr/>
        </p:nvSpPr>
        <p:spPr>
          <a:xfrm>
            <a:off x="10183359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3899" y="6292693"/>
            <a:ext cx="555512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1 · Conseils &amp; protocole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60383" y="742931"/>
            <a:ext cx="10921727" cy="390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À 12 ans : </a:t>
            </a:r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mm suffisent</a:t>
            </a:r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60383" y="5816455"/>
            <a:ext cx="10921727" cy="1650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 7 mm, dans ma pratique » — expérience clinique, pas un seuil publié.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60383" y="2731722"/>
            <a:ext cx="10921727" cy="276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T-zone</a:t>
            </a:r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ni guide ni bicortical nécessaires à cet âge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60383" y="3147735"/>
            <a:ext cx="10921727" cy="276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mm d'ancrage osseux</a:t>
            </a:r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faible résistance suturale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60383" y="3563749"/>
            <a:ext cx="10921727" cy="276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Double charge (expansion + distalisation)</a:t>
            </a:r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stabilité primaire critique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60383" y="3979763"/>
            <a:ext cx="10921727" cy="276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Vigilance</a:t>
            </a:r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bascule · rotation disto-palatine · dimension verticale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</p:sp>
      <p:pic>
        <p:nvPicPr>
          <p:cNvPr id="10" name="Image 0" descr="/home/user/Carrousel-TS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10179192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</p:sp>
      <p:sp>
        <p:nvSpPr>
          <p:cNvPr id="12" name="Text 9"/>
          <p:cNvSpPr/>
          <p:nvPr/>
        </p:nvSpPr>
        <p:spPr>
          <a:xfrm>
            <a:off x="10179192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9732" y="6292693"/>
            <a:ext cx="559679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75896" y="1323743"/>
            <a:ext cx="4555416" cy="4657807"/>
          </a:xfrm>
          <a:prstGeom prst="roundRect">
            <a:avLst>
              <a:gd name="adj" fmla="val 3067"/>
            </a:avLst>
          </a:prstGeom>
          <a:solidFill>
            <a:srgbClr val="FFFFFF"/>
          </a:solidFill>
          <a:ln w="12700">
            <a:solidFill>
              <a:srgbClr val="E7E1D5"/>
            </a:solidFill>
            <a:prstDash val="solid"/>
          </a:ln>
          <a:effectLst>
            <a:outerShdw sx="100000" sy="100000" kx="0" ky="0" algn="bl" rotWithShape="0" blurRad="127000" dist="63500" dir="5400000">
              <a:srgbClr val="2B2926">
                <a:alpha val="10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60383" y="1323743"/>
            <a:ext cx="6163116" cy="4657807"/>
          </a:xfrm>
          <a:prstGeom prst="roundRect">
            <a:avLst>
              <a:gd name="adj" fmla="val 2727"/>
            </a:avLst>
          </a:prstGeom>
          <a:solidFill>
            <a:srgbClr val="EFE7D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1 · Vidéo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60383" y="742931"/>
            <a:ext cx="10921727" cy="390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pose, en </a:t>
            </a:r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trente secondes</a:t>
            </a:r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7248939" y="1571387"/>
            <a:ext cx="4060128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 tempo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248939" y="1933328"/>
            <a:ext cx="4060128" cy="386447"/>
          </a:xfrm>
          <a:prstGeom prst="rect">
            <a:avLst/>
          </a:prstGeom>
          <a:noFill/>
          <a:ln/>
        </p:spPr>
        <p:txBody>
          <a:bodyPr wrap="none" lIns="69850" tIns="0" rIns="0" bIns="0" rtlCol="0" anchor="t"/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45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repère.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248939" y="2319776"/>
            <a:ext cx="4009329" cy="633198"/>
          </a:xfrm>
          <a:prstGeom prst="rect">
            <a:avLst/>
          </a:prstGeom>
          <a:noFill/>
          <a:ln/>
        </p:spPr>
        <p:txBody>
          <a:bodyPr wrap="square" lIns="69850" tIns="0" rIns="0" bIns="0" rtlCol="0" anchor="t"/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45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quart de tour, deux, trois… la </a:t>
            </a:r>
            <a:pPr algn="l" indent="0" marL="0">
              <a:lnSpc>
                <a:spcPct val="134000"/>
              </a:lnSpc>
              <a:buNone/>
            </a:pPr>
            <a:r>
              <a:rPr lang="en-US" sz="1450" b="1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stabilité primaire</a:t>
            </a:r>
            <a:pPr algn="l"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7248939" y="2952974"/>
            <a:ext cx="4009329" cy="633198"/>
          </a:xfrm>
          <a:prstGeom prst="rect">
            <a:avLst/>
          </a:prstGeom>
          <a:noFill/>
          <a:ln/>
        </p:spPr>
        <p:txBody>
          <a:bodyPr wrap="square" lIns="69850" tIns="0" rIns="0" bIns="0" rtlCol="0" anchor="t"/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45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 de forcing — on s'arrête quand la tête touche la gencive.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2837585" y="3547875"/>
            <a:ext cx="1859412" cy="209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B0A7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Vidéo — pose des vis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</p:sp>
      <p:pic>
        <p:nvPicPr>
          <p:cNvPr id="12" name="Image 0" descr="/home/user/Carrousel-TS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10168973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</p:sp>
      <p:sp>
        <p:nvSpPr>
          <p:cNvPr id="14" name="Text 11"/>
          <p:cNvSpPr/>
          <p:nvPr/>
        </p:nvSpPr>
        <p:spPr>
          <a:xfrm>
            <a:off x="10168973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99513" y="6292693"/>
            <a:ext cx="569898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383" y="1476140"/>
            <a:ext cx="10870928" cy="4505411"/>
          </a:xfrm>
          <a:prstGeom prst="roundRect">
            <a:avLst>
              <a:gd name="adj" fmla="val 2819"/>
            </a:avLst>
          </a:prstGeom>
          <a:solidFill>
            <a:srgbClr val="EFE7D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1 · Vidéo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60383" y="742931"/>
            <a:ext cx="10921727" cy="390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L'appareil </a:t>
            </a:r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 bouche</a:t>
            </a:r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2900" dirty="0"/>
          </a:p>
        </p:txBody>
      </p:sp>
      <p:sp>
        <p:nvSpPr>
          <p:cNvPr id="5" name="Text 3"/>
          <p:cNvSpPr txBox="1"/>
          <p:nvPr/>
        </p:nvSpPr>
        <p:spPr>
          <a:xfrm>
            <a:off x="4502137" y="3624073"/>
            <a:ext cx="3238221" cy="209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B0A7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Vidéo / photo — appareil en bouche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</p:sp>
      <p:pic>
        <p:nvPicPr>
          <p:cNvPr id="7" name="Image 0" descr="/home/user/Carrousel-TS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171751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10171751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291" y="6292693"/>
            <a:ext cx="567120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383" y="3659195"/>
            <a:ext cx="1630322" cy="450839"/>
          </a:xfrm>
          <a:prstGeom prst="roundRect">
            <a:avLst>
              <a:gd name="adj" fmla="val 19718"/>
            </a:avLst>
          </a:prstGeom>
          <a:solidFill>
            <a:srgbClr val="C3A46E"/>
          </a:solidFill>
          <a:ln/>
        </p:spPr>
      </p:sp>
      <p:pic>
        <p:nvPicPr>
          <p:cNvPr id="3" name="Image 0" descr="/home/user/Carrousel-TSS/deck/out/photos/16_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223" y="1212720"/>
            <a:ext cx="4469079" cy="4000499"/>
          </a:xfrm>
          <a:prstGeom prst="rect">
            <a:avLst/>
          </a:prstGeom>
          <a:effectLst>
            <a:outerShdw sx="100000" sy="100000" kx="0" ky="0" algn="bl" rotWithShape="0" blurRad="114300" dist="50800" dir="5400000">
              <a:srgbClr val="2B2926">
                <a:alpha val="16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660383" y="2316005"/>
            <a:ext cx="1507889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Participation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60383" y="2538250"/>
            <a:ext cx="6046239" cy="9050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L'ancrage bicortical —</a:t>
            </a:r>
            <a:endParaRPr lang="en-US" sz="33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33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indispensable à 12 ans ?</a:t>
            </a:r>
            <a:endParaRPr lang="en-US" sz="3300" dirty="0"/>
          </a:p>
        </p:txBody>
      </p:sp>
      <p:sp>
        <p:nvSpPr>
          <p:cNvPr id="6" name="Text 3"/>
          <p:cNvSpPr txBox="1"/>
          <p:nvPr/>
        </p:nvSpPr>
        <p:spPr>
          <a:xfrm>
            <a:off x="660383" y="3659195"/>
            <a:ext cx="1630322" cy="450839"/>
          </a:xfrm>
          <a:prstGeom prst="rect">
            <a:avLst/>
          </a:prstGeom>
          <a:noFill/>
          <a:ln/>
        </p:spPr>
        <p:txBody>
          <a:bodyPr wrap="square" lIns="101600" tIns="203200" rIns="2032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À main levée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6A655C"/>
            </a:solidFill>
            <a:prstDash val="solid"/>
          </a:ln>
        </p:spPr>
      </p:sp>
      <p:pic>
        <p:nvPicPr>
          <p:cNvPr id="8" name="Image 1" descr="/home/user/Carrousel-TSS/assets/logo-l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0172446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8A857C"/>
            </a:solidFill>
            <a:prstDash val="dash"/>
          </a:ln>
        </p:spPr>
      </p:sp>
      <p:sp>
        <p:nvSpPr>
          <p:cNvPr id="10" name="Text 6"/>
          <p:cNvSpPr/>
          <p:nvPr/>
        </p:nvSpPr>
        <p:spPr>
          <a:xfrm>
            <a:off x="10172446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D8D2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85" y="6292693"/>
            <a:ext cx="566426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0383" y="1323743"/>
            <a:ext cx="5327517" cy="4657807"/>
          </a:xfrm>
          <a:prstGeom prst="roundRect">
            <a:avLst>
              <a:gd name="adj" fmla="val 2999"/>
            </a:avLst>
          </a:prstGeom>
          <a:solidFill>
            <a:srgbClr val="FFFFFF"/>
          </a:solidFill>
          <a:ln w="12700">
            <a:solidFill>
              <a:srgbClr val="E7E1D5"/>
            </a:solidFill>
            <a:prstDash val="solid"/>
          </a:ln>
          <a:effectLst>
            <a:outerShdw sx="100000" sy="100000" kx="0" ky="0" algn="bl" rotWithShape="0" blurRad="127000" dist="63500" dir="5400000">
              <a:srgbClr val="2B2926">
                <a:alpha val="10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203795" y="1323743"/>
            <a:ext cx="5327517" cy="4657807"/>
          </a:xfrm>
          <a:prstGeom prst="roundRect">
            <a:avLst>
              <a:gd name="adj" fmla="val 2999"/>
            </a:avLst>
          </a:prstGeom>
          <a:solidFill>
            <a:srgbClr val="FFFFFF"/>
          </a:solidFill>
          <a:ln w="12700">
            <a:solidFill>
              <a:srgbClr val="E7E1D5"/>
            </a:solidFill>
            <a:prstDash val="solid"/>
          </a:ln>
          <a:effectLst>
            <a:outerShdw sx="100000" sy="100000" kx="0" ky="0" algn="bl" rotWithShape="0" blurRad="127000" dist="63500" dir="5400000">
              <a:srgbClr val="2B2926">
                <a:alpha val="1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1 · Ce que ça change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60383" y="742931"/>
            <a:ext cx="10921727" cy="390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Pour </a:t>
            </a:r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lui</a:t>
            </a:r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Pour </a:t>
            </a:r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nous</a:t>
            </a:r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933427" y="1571387"/>
            <a:ext cx="4832229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Pour le patient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76838" y="1571387"/>
            <a:ext cx="4832229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Pour l'orthodontiste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33427" y="1933328"/>
            <a:ext cx="4832229" cy="386447"/>
          </a:xfrm>
          <a:prstGeom prst="rect">
            <a:avLst/>
          </a:prstGeom>
          <a:noFill/>
          <a:ln/>
        </p:spPr>
        <p:txBody>
          <a:bodyPr wrap="none" lIns="69850" tIns="0" rIns="0" bIns="0" rtlCol="0" anchor="t"/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45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Traité </a:t>
            </a:r>
            <a:pPr algn="l" indent="0" marL="0">
              <a:lnSpc>
                <a:spcPct val="134000"/>
              </a:lnSpc>
              <a:buNone/>
            </a:pPr>
            <a:r>
              <a:rPr lang="en-US" sz="1450" b="1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 bon moment</a:t>
            </a:r>
            <a:pPr algn="l"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sans compensation dentaire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933427" y="2319776"/>
            <a:ext cx="4781430" cy="633198"/>
          </a:xfrm>
          <a:prstGeom prst="rect">
            <a:avLst/>
          </a:prstGeom>
          <a:noFill/>
          <a:ln/>
        </p:spPr>
        <p:txBody>
          <a:bodyPr wrap="square" lIns="69850" tIns="0" rIns="0" bIns="0" rtlCol="0" anchor="t"/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45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aborde l'adolescence avec une bouche fonctionnelle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933427" y="2952974"/>
            <a:ext cx="4781430" cy="633198"/>
          </a:xfrm>
          <a:prstGeom prst="rect">
            <a:avLst/>
          </a:prstGeom>
          <a:noFill/>
          <a:ln/>
        </p:spPr>
        <p:txBody>
          <a:bodyPr wrap="square" lIns="69850" tIns="0" rIns="0" bIns="0" rtlCol="0" anchor="t"/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45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respire et dort mieux — au moment où le regard des autres compte le plus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476838" y="1933328"/>
            <a:ext cx="4781430" cy="633198"/>
          </a:xfrm>
          <a:prstGeom prst="rect">
            <a:avLst/>
          </a:prstGeom>
          <a:noFill/>
          <a:ln/>
        </p:spPr>
        <p:txBody>
          <a:bodyPr wrap="square" lIns="69850" tIns="0" rIns="0" bIns="0" rtlCol="0" anchor="t"/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45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ancrage fiable même quand la denture ne suit pas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476838" y="2566526"/>
            <a:ext cx="4832229" cy="386447"/>
          </a:xfrm>
          <a:prstGeom prst="rect">
            <a:avLst/>
          </a:prstGeom>
          <a:noFill/>
          <a:ln/>
        </p:spPr>
        <p:txBody>
          <a:bodyPr wrap="none" lIns="69850" tIns="0" rIns="0" bIns="0" rtlCol="0" anchor="t"/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45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geste simple : 7 mm, T-zone, pas de guide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476838" y="2952974"/>
            <a:ext cx="4781430" cy="633198"/>
          </a:xfrm>
          <a:prstGeom prst="rect">
            <a:avLst/>
          </a:prstGeom>
          <a:noFill/>
          <a:ln/>
        </p:spPr>
        <p:txBody>
          <a:bodyPr wrap="square" lIns="69850" tIns="0" rIns="0" bIns="0" rtlCol="0" anchor="t"/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45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Reproductible — on repense la fenêtre d'intervention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</p:sp>
      <p:pic>
        <p:nvPicPr>
          <p:cNvPr id="15" name="Image 0" descr="/home/user/Carrousel-TS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10187626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</p:sp>
      <p:sp>
        <p:nvSpPr>
          <p:cNvPr id="17" name="Text 14"/>
          <p:cNvSpPr/>
          <p:nvPr/>
        </p:nvSpPr>
        <p:spPr>
          <a:xfrm>
            <a:off x="10187626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8165" y="6292693"/>
            <a:ext cx="551246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/photos/18_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0884" y="1984821"/>
            <a:ext cx="3680328" cy="2456396"/>
          </a:xfrm>
          <a:prstGeom prst="rect">
            <a:avLst/>
          </a:prstGeom>
          <a:effectLst>
            <a:outerShdw sx="100000" sy="100000" kx="0" ky="0" algn="bl" rotWithShape="0" blurRad="114300" dist="50800" dir="5400000">
              <a:srgbClr val="2B2926">
                <a:alpha val="16000"/>
              </a:srgbClr>
            </a:outerShdw>
          </a:effectLst>
        </p:spPr>
      </p:pic>
      <p:sp>
        <p:nvSpPr>
          <p:cNvPr id="3" name="Text 0"/>
          <p:cNvSpPr txBox="1"/>
          <p:nvPr/>
        </p:nvSpPr>
        <p:spPr>
          <a:xfrm>
            <a:off x="660383" y="1867250"/>
            <a:ext cx="6885708" cy="247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leçon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660383" y="2279990"/>
            <a:ext cx="6834910" cy="1650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Chez l'adulte, la vis </a:t>
            </a:r>
            <a:pPr algn="l" indent="0" marL="0">
              <a:lnSpc>
                <a:spcPct val="114000"/>
              </a:lnSpc>
              <a:buNone/>
            </a:pPr>
            <a:r>
              <a:rPr lang="en-US" sz="38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vainc l'os</a:t>
            </a:r>
            <a:pPr algn="l" indent="0" marL="0">
              <a:lnSpc>
                <a:spcPct val="114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380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Chez l'enfant, elle </a:t>
            </a:r>
            <a:pPr algn="l" indent="0" marL="0">
              <a:lnSpc>
                <a:spcPct val="114000"/>
              </a:lnSpc>
              <a:buNone/>
            </a:pPr>
            <a:r>
              <a:rPr lang="en-US" sz="38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ancre</a:t>
            </a:r>
            <a:pPr algn="l" indent="0" marL="0">
              <a:lnSpc>
                <a:spcPct val="114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660383" y="4146049"/>
            <a:ext cx="6885708" cy="412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Même outil, deux missions.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6A655C"/>
            </a:solidFill>
            <a:prstDash val="solid"/>
          </a:ln>
        </p:spPr>
      </p:sp>
      <p:pic>
        <p:nvPicPr>
          <p:cNvPr id="7" name="Image 1" descr="/home/user/Carrousel-TSS/assets/logo-l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0171950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8A857C"/>
            </a:solidFill>
            <a:prstDash val="dash"/>
          </a:ln>
        </p:spPr>
      </p:sp>
      <p:sp>
        <p:nvSpPr>
          <p:cNvPr id="9" name="Text 5"/>
          <p:cNvSpPr/>
          <p:nvPr/>
        </p:nvSpPr>
        <p:spPr>
          <a:xfrm>
            <a:off x="10171950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D8D2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489" y="6292693"/>
            <a:ext cx="566922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Smile Space — Cas 1 · Mathys</dc:title>
  <dc:subject>PptxGenJS Presentation</dc:subject>
  <dc:creator>PptxGenJS</dc:creator>
  <cp:lastModifiedBy>PptxGenJS</cp:lastModifiedBy>
  <cp:revision>1</cp:revision>
  <dcterms:created xsi:type="dcterms:W3CDTF">2026-09-07T23:07:53Z</dcterms:created>
  <dcterms:modified xsi:type="dcterms:W3CDTF">2026-09-07T23:07:53Z</dcterms:modified>
</cp:coreProperties>
</file>